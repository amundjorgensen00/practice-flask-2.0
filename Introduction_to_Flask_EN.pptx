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71" r:id="rId1"/>
    <p:sldMasterId id="2147483672" r:id="rId2"/>
  </p:sldMasterIdLst>
  <p:notesMasterIdLst>
    <p:notesMasterId r:id="rId25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411124F2-A59B-481F-90A4-E3CCEB1B5412}">
  <a:tblStyle styleId="{411124F2-A59B-481F-90A4-E3CCEB1B5412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3" d="100"/>
          <a:sy n="103" d="100"/>
        </p:scale>
        <p:origin x="874" y="77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presProps" Target="presProps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notesMaster" Target="notesMasters/notesMaster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theme" Target="theme/theme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1d6bad852e9_0_18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4" name="Google Shape;134;g1d6bad852e9_0_18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t>Flask</a:t>
            </a:r>
          </a:p>
          <a:p>
            <a:r>
              <a:t>Av: Christian Eriksen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3021306818b_0_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" name="Google Shape;146;g3021306818b_0_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t>HØRA</a:t>
            </a:r>
          </a:p>
          <a:p>
            <a:endParaRPr/>
          </a:p>
          <a:p>
            <a:r>
              <a:t>H: Hensikt</a:t>
            </a:r>
          </a:p>
          <a:p>
            <a:r>
              <a:t>- Gi dere en grunnleggende introduksjon til en sentral del av web-development</a:t>
            </a:r>
          </a:p>
          <a:p>
            <a:r>
              <a:t>- Gi dere mulighet til å lære ved å gjøre selv</a:t>
            </a:r>
          </a:p>
          <a:p>
            <a:endParaRPr/>
          </a:p>
          <a:p>
            <a:r>
              <a:t>ØR: Ønsket Resultat</a:t>
            </a:r>
          </a:p>
          <a:p>
            <a:r>
              <a:t>- Dere skal kjenne til grunnleggende egenskaper ved flask</a:t>
            </a:r>
          </a:p>
          <a:p>
            <a:r>
              <a:t>- Dere skal kunne opprette routes</a:t>
            </a:r>
          </a:p>
          <a:p>
            <a:r>
              <a:t>- Dere skal kunne lage enkle html sider</a:t>
            </a:r>
          </a:p>
          <a:p>
            <a:endParaRPr/>
          </a:p>
          <a:p>
            <a:r>
              <a:t>A: Agenda →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1d6bad852e9_0_9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9" name="Google Shape;159;g1d6bad852e9_0_9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t>Agenda</a:t>
            </a:r>
          </a:p>
          <a:p>
            <a:r>
              <a:t>01 Git Kahoot</a:t>
            </a:r>
          </a:p>
          <a:p>
            <a:r>
              <a:t>02 Planen fremover</a:t>
            </a:r>
          </a:p>
          <a:p>
            <a:r>
              <a:t>03 Hva er flask og hvorfor bruker vi det</a:t>
            </a:r>
          </a:p>
          <a:p>
            <a:r>
              <a:t>04 Grunnleggende flask og flask struktur</a:t>
            </a:r>
          </a:p>
          <a:p>
            <a:r>
              <a:t>05 Demo</a:t>
            </a:r>
          </a:p>
          <a:p>
            <a:r>
              <a:t>06 Praktisk oppgave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g3790b317462_0_3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1" name="Google Shape;171;g3790b317462_0_3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dirty="0" err="1"/>
              <a:t>Planen</a:t>
            </a:r>
            <a:r>
              <a:rPr dirty="0"/>
              <a:t> </a:t>
            </a:r>
            <a:r>
              <a:rPr dirty="0" err="1"/>
              <a:t>fremover</a:t>
            </a:r>
            <a:endParaRPr dirty="0"/>
          </a:p>
          <a:p>
            <a:endParaRPr dirty="0"/>
          </a:p>
          <a:p>
            <a:r>
              <a:rPr dirty="0"/>
              <a:t>I </a:t>
            </a:r>
            <a:r>
              <a:rPr dirty="0" err="1"/>
              <a:t>dag</a:t>
            </a:r>
            <a:r>
              <a:rPr dirty="0"/>
              <a:t>: </a:t>
            </a:r>
            <a:r>
              <a:rPr dirty="0" err="1"/>
              <a:t>Introduksjonskurs</a:t>
            </a:r>
            <a:endParaRPr dirty="0"/>
          </a:p>
          <a:p>
            <a:r>
              <a:rPr dirty="0"/>
              <a:t>- </a:t>
            </a:r>
            <a:r>
              <a:rPr dirty="0" err="1"/>
              <a:t>Hensikt</a:t>
            </a:r>
            <a:r>
              <a:rPr dirty="0"/>
              <a:t>: Gi deg </a:t>
            </a:r>
            <a:r>
              <a:rPr dirty="0" err="1"/>
              <a:t>en</a:t>
            </a:r>
            <a:r>
              <a:rPr dirty="0"/>
              <a:t> </a:t>
            </a:r>
            <a:r>
              <a:rPr dirty="0" err="1"/>
              <a:t>innføring</a:t>
            </a:r>
            <a:endParaRPr dirty="0"/>
          </a:p>
          <a:p>
            <a:r>
              <a:rPr dirty="0" err="1"/>
              <a:t>Dypdykk</a:t>
            </a:r>
            <a:r>
              <a:rPr dirty="0"/>
              <a:t> 1: </a:t>
            </a:r>
            <a:r>
              <a:rPr dirty="0" err="1"/>
              <a:t>Kommunikasjon</a:t>
            </a:r>
            <a:endParaRPr dirty="0"/>
          </a:p>
          <a:p>
            <a:r>
              <a:rPr dirty="0"/>
              <a:t>- </a:t>
            </a:r>
            <a:r>
              <a:rPr dirty="0" err="1"/>
              <a:t>Hensikt</a:t>
            </a:r>
            <a:r>
              <a:rPr dirty="0"/>
              <a:t>: </a:t>
            </a:r>
            <a:r>
              <a:rPr dirty="0" err="1"/>
              <a:t>Lære</a:t>
            </a:r>
            <a:r>
              <a:rPr dirty="0"/>
              <a:t> deg å </a:t>
            </a:r>
            <a:r>
              <a:rPr dirty="0" err="1"/>
              <a:t>motta</a:t>
            </a:r>
            <a:r>
              <a:rPr dirty="0"/>
              <a:t> </a:t>
            </a:r>
            <a:r>
              <a:rPr dirty="0" err="1"/>
              <a:t>og</a:t>
            </a:r>
            <a:r>
              <a:rPr dirty="0"/>
              <a:t> </a:t>
            </a:r>
            <a:r>
              <a:rPr dirty="0" err="1"/>
              <a:t>sende</a:t>
            </a:r>
            <a:r>
              <a:rPr dirty="0"/>
              <a:t> data over </a:t>
            </a:r>
            <a:r>
              <a:rPr dirty="0" err="1"/>
              <a:t>nettet</a:t>
            </a:r>
            <a:endParaRPr dirty="0"/>
          </a:p>
          <a:p>
            <a:r>
              <a:rPr dirty="0" err="1"/>
              <a:t>Dypdykk</a:t>
            </a:r>
            <a:r>
              <a:rPr dirty="0"/>
              <a:t> 2: </a:t>
            </a:r>
            <a:r>
              <a:rPr dirty="0" err="1"/>
              <a:t>Databaser</a:t>
            </a:r>
            <a:endParaRPr dirty="0"/>
          </a:p>
          <a:p>
            <a:r>
              <a:rPr dirty="0"/>
              <a:t>- </a:t>
            </a:r>
            <a:r>
              <a:rPr dirty="0" err="1"/>
              <a:t>Hensikt</a:t>
            </a:r>
            <a:r>
              <a:rPr dirty="0"/>
              <a:t>: </a:t>
            </a:r>
            <a:r>
              <a:rPr dirty="0" err="1"/>
              <a:t>Lære</a:t>
            </a:r>
            <a:r>
              <a:rPr dirty="0"/>
              <a:t> deg å lese/</a:t>
            </a:r>
            <a:r>
              <a:rPr dirty="0" err="1"/>
              <a:t>skrive</a:t>
            </a:r>
            <a:r>
              <a:rPr dirty="0"/>
              <a:t> data </a:t>
            </a:r>
            <a:r>
              <a:rPr dirty="0" err="1"/>
              <a:t>fra</a:t>
            </a:r>
            <a:r>
              <a:rPr dirty="0"/>
              <a:t> </a:t>
            </a:r>
            <a:r>
              <a:rPr dirty="0" err="1"/>
              <a:t>databasen</a:t>
            </a:r>
            <a:endParaRPr dirty="0"/>
          </a:p>
          <a:p>
            <a:r>
              <a:rPr dirty="0" err="1"/>
              <a:t>Dypdykk</a:t>
            </a:r>
            <a:r>
              <a:rPr dirty="0"/>
              <a:t> 3: Design</a:t>
            </a:r>
          </a:p>
          <a:p>
            <a:r>
              <a:rPr dirty="0"/>
              <a:t>- </a:t>
            </a:r>
            <a:r>
              <a:rPr dirty="0" err="1"/>
              <a:t>Hensikt</a:t>
            </a:r>
            <a:r>
              <a:rPr dirty="0"/>
              <a:t>: </a:t>
            </a:r>
            <a:r>
              <a:rPr dirty="0" err="1"/>
              <a:t>Lære</a:t>
            </a:r>
            <a:r>
              <a:rPr dirty="0"/>
              <a:t> </a:t>
            </a:r>
            <a:r>
              <a:rPr dirty="0" err="1"/>
              <a:t>dere</a:t>
            </a:r>
            <a:r>
              <a:rPr dirty="0"/>
              <a:t> å </a:t>
            </a:r>
            <a:r>
              <a:rPr dirty="0" err="1"/>
              <a:t>lage</a:t>
            </a:r>
            <a:r>
              <a:rPr dirty="0"/>
              <a:t> </a:t>
            </a:r>
            <a:r>
              <a:rPr dirty="0" err="1"/>
              <a:t>pene</a:t>
            </a:r>
            <a:r>
              <a:rPr dirty="0"/>
              <a:t> </a:t>
            </a:r>
            <a:r>
              <a:rPr dirty="0" err="1"/>
              <a:t>nettsider</a:t>
            </a:r>
            <a:endParaRPr dirty="0"/>
          </a:p>
          <a:p>
            <a:endParaRPr dirty="0"/>
          </a:p>
          <a:p>
            <a:r>
              <a:rPr dirty="0"/>
              <a:t>Tanke: Vi </a:t>
            </a:r>
            <a:r>
              <a:rPr dirty="0" err="1"/>
              <a:t>skal</a:t>
            </a:r>
            <a:r>
              <a:rPr dirty="0"/>
              <a:t> </a:t>
            </a:r>
            <a:r>
              <a:rPr dirty="0" err="1"/>
              <a:t>bruke</a:t>
            </a:r>
            <a:r>
              <a:rPr dirty="0"/>
              <a:t> </a:t>
            </a:r>
            <a:r>
              <a:rPr dirty="0" err="1"/>
              <a:t>samme</a:t>
            </a:r>
            <a:r>
              <a:rPr dirty="0"/>
              <a:t> </a:t>
            </a:r>
            <a:r>
              <a:rPr dirty="0" err="1"/>
              <a:t>kodebase</a:t>
            </a:r>
            <a:r>
              <a:rPr dirty="0"/>
              <a:t> </a:t>
            </a:r>
            <a:r>
              <a:rPr dirty="0" err="1"/>
              <a:t>gjennom</a:t>
            </a:r>
            <a:r>
              <a:rPr dirty="0"/>
              <a:t> alle </a:t>
            </a:r>
            <a:r>
              <a:rPr dirty="0" err="1"/>
              <a:t>kursene</a:t>
            </a:r>
            <a:r>
              <a:rPr dirty="0"/>
              <a:t>, </a:t>
            </a:r>
            <a:r>
              <a:rPr dirty="0" err="1"/>
              <a:t>og</a:t>
            </a:r>
            <a:r>
              <a:rPr dirty="0"/>
              <a:t> </a:t>
            </a:r>
            <a:r>
              <a:rPr dirty="0" err="1"/>
              <a:t>resultatet</a:t>
            </a:r>
            <a:r>
              <a:rPr dirty="0"/>
              <a:t> </a:t>
            </a:r>
            <a:r>
              <a:rPr dirty="0" err="1"/>
              <a:t>skal</a:t>
            </a:r>
            <a:r>
              <a:rPr dirty="0"/>
              <a:t> </a:t>
            </a:r>
            <a:r>
              <a:rPr dirty="0" err="1"/>
              <a:t>være</a:t>
            </a:r>
            <a:r>
              <a:rPr dirty="0"/>
              <a:t> </a:t>
            </a:r>
            <a:r>
              <a:rPr dirty="0" err="1"/>
              <a:t>en</a:t>
            </a:r>
            <a:r>
              <a:rPr dirty="0"/>
              <a:t> LinkedIn cv lager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g3790b317462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3" name="Google Shape;183;g3790b317462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t>Hva er flask?</a:t>
            </a:r>
          </a:p>
          <a:p>
            <a:endParaRPr/>
          </a:p>
          <a:p>
            <a:r>
              <a:t>- Flask er et mikro web rammeverk skrevet i Python</a:t>
            </a:r>
          </a:p>
          <a:p>
            <a:r>
              <a:t>- Hva betyr mikro web rammeverk?</a:t>
            </a:r>
          </a:p>
          <a:p>
            <a:r>
              <a:t>  - Det dekker kun det essensielle</a:t>
            </a:r>
          </a:p>
          <a:p>
            <a:r>
              <a:t>    - Routing</a:t>
            </a:r>
          </a:p>
          <a:p>
            <a:r>
              <a:t>    - Request handling</a:t>
            </a:r>
          </a:p>
          <a:p>
            <a:r>
              <a:t>    - Template handling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g3790b317462_0_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6" name="Google Shape;196;g3790b317462_0_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t>Hvorfor bruker vi flask?</a:t>
            </a:r>
          </a:p>
          <a:p>
            <a:endParaRPr/>
          </a:p>
          <a:p>
            <a:r>
              <a:t>- Vi ønsker å gi dere kunnskaper dere kan bruke videre i livet</a:t>
            </a:r>
          </a:p>
          <a:p>
            <a:r>
              <a:t>  - Python er vesentlig mer brukervennlig for en siviløkonom enn f.eks. C#</a:t>
            </a:r>
          </a:p>
          <a:p>
            <a:r>
              <a:t>- Vi lager sider for NHHS</a:t>
            </a:r>
          </a:p>
          <a:p>
            <a:r>
              <a:t>  - Det er begrenset med hvor mye trafikk vi har</a:t>
            </a:r>
          </a:p>
          <a:p>
            <a:r>
              <a:t>  - Det er begrenset med hvor tung kompleksitet vi har</a:t>
            </a:r>
          </a:p>
          <a:p>
            <a:r>
              <a:t>  =&gt; Flask dekker behovene våre</a:t>
            </a:r>
          </a:p>
          <a:p>
            <a:r>
              <a:t>- Flask er veldig brukervennlig</a:t>
            </a:r>
          </a:p>
          <a:p>
            <a:r>
              <a:t>- Det er et rikt økosystem for flask</a:t>
            </a:r>
          </a:p>
          <a:p>
            <a:r>
              <a:t>  - Folk har laget "pakker" for alt det flask mangler</a:t>
            </a:r>
          </a:p>
          <a:p>
            <a:r>
              <a:t>  =&gt; Dette gjør flask ganske komplett likevel</a:t>
            </a:r>
          </a:p>
          <a:p>
            <a:endParaRPr/>
          </a:p>
          <a:p>
            <a:r>
              <a:t>MAO: Det er ikke vits å skyte spurv med kanon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g3790b317462_0_28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9" name="Google Shape;209;g3790b317462_0_28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t>Enkel flask application</a:t>
            </a:r>
          </a:p>
          <a:p>
            <a:endParaRPr/>
          </a:p>
          <a:p>
            <a:r>
              <a:t>Gjennomgang av koden linje for linje:</a:t>
            </a:r>
          </a:p>
          <a:p>
            <a:r>
              <a:t>- from flask import ... henter inn det vi trenger</a:t>
            </a:r>
          </a:p>
          <a:p>
            <a:r>
              <a:t>- app = Flask(__name__) oppretter selve applikasjonen</a:t>
            </a:r>
          </a:p>
          <a:p>
            <a:r>
              <a:t>- @app.route('/') kobler URL-en til funksjonen under</a:t>
            </a:r>
          </a:p>
          <a:p>
            <a:r>
              <a:t>- render_template('index.html') bygger og returnerer HTML-siden</a:t>
            </a:r>
          </a:p>
          <a:p>
            <a:r>
              <a:t>- app.run(debug=True) starter utviklingsserveren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g3790b317462_0_3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1" name="Google Shape;221;g3790b317462_0_3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t>Hvordan kjøre/starte en flask app</a:t>
            </a:r>
          </a:p>
          <a:p>
            <a:endParaRPr/>
          </a:p>
          <a:p>
            <a:r>
              <a:t>- Du må ha filstien i terminalen på samme sted som app.py</a:t>
            </a:r>
          </a:p>
          <a:p>
            <a:r>
              <a:t>  - Det betyr som regel at du må skrive "cd app" først</a:t>
            </a:r>
          </a:p>
          <a:p>
            <a:r>
              <a:t>  - Dette betyr "change directory to app"</a:t>
            </a:r>
          </a:p>
          <a:p>
            <a:r>
              <a:t>- Mac: python3 app.py</a:t>
            </a:r>
          </a:p>
          <a:p>
            <a:r>
              <a:t>- Windows: py app.py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3790b317462_0_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4" name="Google Shape;234;g3790b317462_0_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t>Routing i flask</a:t>
            </a:r>
          </a:p>
          <a:p>
            <a:endParaRPr/>
          </a:p>
          <a:p>
            <a:r>
              <a:t>- Routing er en metode å koble en url (hva du skriver inn i nettleseren) til en funksjon i Python</a:t>
            </a:r>
          </a:p>
          <a:p>
            <a:r>
              <a:t>- Hver side (url) har sin egen funksjon i Python som returnerer en template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g3790b317462_0_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9" name="Google Shape;249;g3790b317462_0_4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t>Routing i flask - variabler i route</a:t>
            </a:r>
          </a:p>
          <a:p>
            <a:endParaRPr/>
          </a:p>
          <a:p>
            <a:r>
              <a:t>- Det går an å ha variabler i en route</a:t>
            </a:r>
          </a:p>
          <a:p>
            <a:r>
              <a:t>- Dette gjør at du slipper å lage uendelig mange routes for samme type side</a:t>
            </a:r>
          </a:p>
          <a:p>
            <a:r>
              <a:t>- Tenk: Alle nyheter på vg.no har samme layout</a:t>
            </a:r>
          </a:p>
          <a:p>
            <a:r>
              <a:t>  - Overskrift</a:t>
            </a:r>
          </a:p>
          <a:p>
            <a:r>
              <a:t>  - Bilde</a:t>
            </a:r>
          </a:p>
          <a:p>
            <a:r>
              <a:t>  - Dato og forfatter</a:t>
            </a:r>
          </a:p>
          <a:p>
            <a:r>
              <a:t>  - Selve nyheten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g3790b317462_0_6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7" name="Google Shape;267;g3790b317462_0_6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t>Routing i flask - request handling</a:t>
            </a:r>
          </a:p>
          <a:p>
            <a:endParaRPr/>
          </a:p>
          <a:p>
            <a:r>
              <a:t>- I web development finnes det ulike metoder</a:t>
            </a:r>
          </a:p>
          <a:p>
            <a:r>
              <a:t>  - GET, POST, PUT, PATCH, DELETE</a:t>
            </a:r>
          </a:p>
          <a:p>
            <a:r>
              <a:t>  - Ofte kalt CRUD innenfor REST API-verden</a:t>
            </a:r>
          </a:p>
          <a:p>
            <a:r>
              <a:t>- Ulike metoder brukes ved ulike operasjoner:</a:t>
            </a:r>
          </a:p>
          <a:p>
            <a:r>
              <a:t>  - GET -&gt; Kan jeg få denne informasjonen</a:t>
            </a:r>
          </a:p>
          <a:p>
            <a:r>
              <a:t>  - POST -&gt; Jeg gir deg denne informasjonen, kan du lagre den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g3790b317462_0_8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1" name="Google Shape;281;g3790b317462_0_8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t>Filstruktur i et flask prosjekt</a:t>
            </a:r>
          </a:p>
          <a:p>
            <a:endParaRPr/>
          </a:p>
          <a:p>
            <a:r>
              <a:t>Folder: app</a:t>
            </a:r>
          </a:p>
          <a:p>
            <a:r>
              <a:t>  Folder: static</a:t>
            </a:r>
          </a:p>
          <a:p>
            <a:r>
              <a:t>    style.css -&gt; Styling</a:t>
            </a:r>
          </a:p>
          <a:p>
            <a:r>
              <a:t>    customScript.js -&gt; Custom JavaScript-kode</a:t>
            </a:r>
          </a:p>
          <a:p>
            <a:r>
              <a:t>    Folder: images -&gt; bilder</a:t>
            </a:r>
          </a:p>
          <a:p>
            <a:r>
              <a:t>  Folder: templates -&gt; De ulike sidene</a:t>
            </a:r>
          </a:p>
          <a:p>
            <a:r>
              <a:t>  app.py -&gt; Hovedkoden</a:t>
            </a:r>
          </a:p>
          <a:p>
            <a:r>
              <a:t>  config.py -&gt; Konfigurasjon av applikasjonen</a:t>
            </a:r>
          </a:p>
          <a:p>
            <a:r>
              <a:t>  models.py -&gt; Databaseskjemaer</a:t>
            </a:r>
          </a:p>
          <a:p>
            <a:r>
              <a:t>.gitignore: Filer Git skal ignorere</a:t>
            </a:r>
          </a:p>
          <a:p>
            <a:r>
              <a:t>Readme.md: Informasjon om applikasjonen</a:t>
            </a:r>
          </a:p>
          <a:p>
            <a:r>
              <a:t>Dockerfile: Docker-instruksjoner</a:t>
            </a:r>
          </a:p>
          <a:p>
            <a:r>
              <a:t>.env -&gt; Miljøvariabler</a:t>
            </a:r>
          </a:p>
          <a:p>
            <a:r>
              <a:t>.venv -&gt; Virtuelt miljø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g3790b317462_0_10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4" name="Google Shape;294;g3790b317462_0_10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t>Template handling</a:t>
            </a:r>
          </a:p>
          <a:p>
            <a:endParaRPr/>
          </a:p>
          <a:p>
            <a:r>
              <a:t>- Flask bruker noe som heter server-side rendering</a:t>
            </a:r>
          </a:p>
          <a:p>
            <a:r>
              <a:t>  - Vi lager sidene (html-dokumenter) på serveren, også sender vi dem til klienten (nettleseren)</a:t>
            </a:r>
          </a:p>
          <a:p>
            <a:r>
              <a:t>- Dette betyr at hver side har sitt eget .html-dokument</a:t>
            </a:r>
          </a:p>
          <a:p>
            <a:r>
              <a:t>- Flask bruker videre noe som heter Jinja2 som template engine</a:t>
            </a:r>
          </a:p>
          <a:p>
            <a:r>
              <a:t>  - Dette gir oss en god del muligheter</a:t>
            </a:r>
          </a:p>
          <a:p>
            <a:r>
              <a:t>- Som dere kanskje har sett, så returnerer hver route nesten den samme linjen</a:t>
            </a:r>
          </a:p>
          <a:p>
            <a:r>
              <a:t>  return render_template('&lt;file&gt;.html')</a:t>
            </a:r>
          </a:p>
          <a:p>
            <a:r>
              <a:t>- Dette er det som skaper selve nettsiden som dere ser i nettleseren</a:t>
            </a:r>
          </a:p>
          <a:p>
            <a:endParaRPr/>
          </a:p>
          <a:p>
            <a:r>
              <a:t>Poeng å få frem muntlig: Jinja kjører PÅ SERVEREN. Nettleseren ser aldri {{ }}, den får ferdig HTML.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3790b317462_0_1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3790b317462_0_1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t>Basic HTML</a:t>
            </a:r>
          </a:p>
          <a:p>
            <a:endParaRPr/>
          </a:p>
          <a:p>
            <a:r>
              <a:t>- HTML: Hyper text markup language</a:t>
            </a:r>
          </a:p>
          <a:p>
            <a:r>
              <a:t>- Brukes for å lage nettsider</a:t>
            </a:r>
          </a:p>
          <a:p>
            <a:r>
              <a:t>- Består av to hoveddeler</a:t>
            </a:r>
          </a:p>
          <a:p>
            <a:r>
              <a:t>  - &lt;head&gt; - metadata, tittel, lenker til CSS</a:t>
            </a:r>
          </a:p>
          <a:p>
            <a:r>
              <a:t>  - &lt;body&gt; - alt brukeren faktisk ser</a:t>
            </a:r>
          </a:p>
          <a:p>
            <a:r>
              <a:t>  - &lt;header&gt; og &lt;footer&gt; er layout-elementer INNE i &lt;body&gt;</a:t>
            </a:r>
          </a:p>
          <a:p>
            <a:r>
              <a:t>- Hvert element i et html-dokument innkapsles av &lt;tags&gt;. Vi har f.eks:</a:t>
            </a:r>
          </a:p>
          <a:p>
            <a:r>
              <a:t>  &lt;div&gt;, &lt;a&gt;, &lt;li&gt;, &lt;src&gt;, &lt;img&gt;</a:t>
            </a:r>
          </a:p>
          <a:p>
            <a:r>
              <a:t>- Og mange mange flere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g3790b317462_0_16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8" name="Google Shape;318;g3790b317462_0_16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t>Basic HTML - visuell inndeling av en side</a:t>
            </a:r>
          </a:p>
          <a:p>
            <a:endParaRPr/>
          </a:p>
          <a:p>
            <a:r>
              <a:t>Header øverst, body i midten, footer nederst.</a:t>
            </a:r>
          </a:p>
          <a:p>
            <a:r>
              <a:t>NB: dette er den visuelle inndelingen av siden, ikke det samme som &lt;head&gt; og &lt;body&gt; i dokumentet.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g3790b317462_0_1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6" name="Google Shape;336;g3790b317462_0_13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t>Basic HTML</a:t>
            </a:r>
          </a:p>
          <a:p>
            <a:endParaRPr/>
          </a:p>
          <a:p>
            <a:r>
              <a:t>- HTML i seg selv er ganske traust</a:t>
            </a:r>
          </a:p>
          <a:p>
            <a:r>
              <a:t>  - Statisk</a:t>
            </a:r>
          </a:p>
          <a:p>
            <a:r>
              <a:t>  - Ingen styling</a:t>
            </a:r>
          </a:p>
          <a:p>
            <a:r>
              <a:t>- Derfor har smarte folk laget enda flere språk dere må kunne</a:t>
            </a:r>
          </a:p>
          <a:p>
            <a:r>
              <a:t>  - CSS: Cascading Style Sheets</a:t>
            </a:r>
          </a:p>
          <a:p>
            <a:r>
              <a:t>  - JavaScript (JS)</a:t>
            </a:r>
          </a:p>
          <a:p>
            <a:r>
              <a:t>- Dette gjør sidene pene, dynamiske og faktisk brukbare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g3790b317462_0_14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8" name="Google Shape;348;g3790b317462_0_14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t>Bootstrap</a:t>
            </a:r>
          </a:p>
          <a:p>
            <a:endParaRPr/>
          </a:p>
          <a:p>
            <a:r>
              <a:t>- I it.gruppen bruker vi Bootstrap som styling-bibliotek</a:t>
            </a:r>
          </a:p>
          <a:p>
            <a:r>
              <a:t>- Et styling-bibliotek er ferdigskrevet CSS-kode</a:t>
            </a:r>
          </a:p>
          <a:p>
            <a:r>
              <a:t>- Dette gir oss haugevis med ferdigskrevet styling-kode som gjør at vi blir mer effektive, samt får mer uniform styling på sidene våre</a:t>
            </a:r>
          </a:p>
          <a:p>
            <a:endParaRPr/>
          </a:p>
          <a:p>
            <a:r>
              <a:t>Bildet viser samme skjema uten og med Bootstrap.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g3790b317462_0_2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3" name="Google Shape;363;g3790b317462_0_2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t>Template handling - Jinja</a:t>
            </a:r>
          </a:p>
          <a:p>
            <a:endParaRPr/>
          </a:p>
          <a:p>
            <a:r>
              <a:t>- Jinja gir oss mulighet til å populere data fra back-end (python) inn i html</a:t>
            </a:r>
          </a:p>
          <a:p>
            <a:endParaRPr/>
          </a:p>
          <a:p>
            <a:r>
              <a:t>Peke på {{ user }} i HTML-en til høyre og koble den til user=user i render_template.</a:t>
            </a:r>
          </a:p>
          <a:p>
            <a:endParaRPr/>
          </a:p>
          <a:p>
            <a:r>
              <a:t>Muntlig tillegg:</a:t>
            </a:r>
          </a:p>
          <a:p>
            <a:r>
              <a:t>- {{ }} = vis en verdi, {% %} = kjør logikk (if, for, extends, block), {# #} = kommentar</a:t>
            </a:r>
          </a:p>
          <a:p>
            <a:r>
              <a:t>- Alt du sender som keyword-argument i render_template blir tilgjengelig i templaten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g3790b317462_0_2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7" name="Google Shape;377;g3790b317462_0_2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t>Template handling - hele kjeden</a:t>
            </a:r>
          </a:p>
          <a:p>
            <a:endParaRPr/>
          </a:p>
          <a:p>
            <a:r>
              <a:t>Den røde streken viser veien: &lt;user&gt; i URL-en -&gt; argument til funksjonen -&gt; user=user i render_template -&gt; {{ user }} i HTML-en.</a:t>
            </a:r>
          </a:p>
          <a:p>
            <a:endParaRPr/>
          </a:p>
          <a:p>
            <a:r>
              <a:t>Spørsmål å stille gruppa: hvilken av de tre "user"-ene kan vi fjerne uten at siden slutter å virke?</a:t>
            </a: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Google Shape;390;g3790b317462_0_25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1" name="Google Shape;391;g3790b317462_0_25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t>Template handling - resultatet i nettleseren</a:t>
            </a:r>
          </a:p>
          <a:p>
            <a:endParaRPr/>
          </a:p>
          <a:p>
            <a:r>
              <a:t>localhost:5000/user/christian gir "Username: christian".</a:t>
            </a:r>
          </a:p>
          <a:p>
            <a:endParaRPr/>
          </a:p>
          <a:p>
            <a:r>
              <a:t>Poeng: høyreklikk -&gt; vis kildekode. Der står det "christian", ikke {{ user }}. Det er server-side rendering i praksis.</a:t>
            </a: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Google Shape;403;g3790b317462_0_3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4" name="Google Shape;404;g3790b317462_0_3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t>Demo</a:t>
            </a:r>
          </a:p>
          <a:p>
            <a:endParaRPr/>
          </a:p>
          <a:p>
            <a:r>
              <a:t>Live-koding: opprett app.py, lag en route, lag en template, kjør appen, vis resultatet i nettleseren.</a:t>
            </a: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Google Shape;414;g2b1357c1be4_0_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5" name="Google Shape;415;g2b1357c1be4_0_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t>Oppgave - Practice-flask</a:t>
            </a:r>
          </a:p>
          <a:p>
            <a:endParaRPr/>
          </a:p>
          <a:p>
            <a:r>
              <a:t>Del ut repo-lenken. Forklar hint-systemet: hint-knappen nede i hjørnet, tre hint per oppgave, deretter løsning.</a:t>
            </a:r>
          </a:p>
          <a:p>
            <a:r>
              <a:t>Hint 1 = for dere som kan Python men ikke Flask. Hint 2 = for dere som kan litt. Hint 3 = for dere som aldri har kodet.</a:t>
            </a:r>
          </a:p>
          <a:p>
            <a:r>
              <a:t>Oppfordre til å prøve selv i noen minutter før man åpner hint.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4"/>
          <p:cNvSpPr txBox="1"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Autofit/>
          </a:bodyPr>
          <a:lstStyle>
            <a:lvl1pPr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14"/>
          <p:cNvSpPr txBox="1"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lvl="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59" name="Google Shape;59;p14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4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1" name="Google Shape;61;p1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5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15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lvl="0" indent="-3175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65" name="Google Shape;65;p15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5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5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6"/>
          <p:cNvSpPr txBox="1">
            <a:spLocks noGrp="1"/>
          </p:cNvSpPr>
          <p:nvPr>
            <p:ph type="title"/>
          </p:nvPr>
        </p:nvSpPr>
        <p:spPr>
          <a:xfrm>
            <a:off x="623888" y="1282304"/>
            <a:ext cx="7886700" cy="213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6"/>
          <p:cNvSpPr txBox="1">
            <a:spLocks noGrp="1"/>
          </p:cNvSpPr>
          <p:nvPr>
            <p:ph type="body" idx="1"/>
          </p:nvPr>
        </p:nvSpPr>
        <p:spPr>
          <a:xfrm>
            <a:off x="623888" y="3442097"/>
            <a:ext cx="7886700" cy="112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marL="1828800" lvl="3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71" name="Google Shape;71;p1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6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6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7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7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3886200" cy="32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lvl="0" indent="-3175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7"/>
          <p:cNvSpPr txBox="1">
            <a:spLocks noGrp="1"/>
          </p:cNvSpPr>
          <p:nvPr>
            <p:ph type="body" idx="2"/>
          </p:nvPr>
        </p:nvSpPr>
        <p:spPr>
          <a:xfrm>
            <a:off x="4629150" y="1369219"/>
            <a:ext cx="3886200" cy="32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lvl="0" indent="-3175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78" name="Google Shape;78;p17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17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8"/>
          <p:cNvSpPr txBox="1">
            <a:spLocks noGrp="1"/>
          </p:cNvSpPr>
          <p:nvPr>
            <p:ph type="title"/>
          </p:nvPr>
        </p:nvSpPr>
        <p:spPr>
          <a:xfrm>
            <a:off x="629841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18"/>
          <p:cNvSpPr txBox="1">
            <a:spLocks noGrp="1"/>
          </p:cNvSpPr>
          <p:nvPr>
            <p:ph type="body" idx="1"/>
          </p:nvPr>
        </p:nvSpPr>
        <p:spPr>
          <a:xfrm>
            <a:off x="629841" y="1260872"/>
            <a:ext cx="3868200" cy="61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84" name="Google Shape;84;p18"/>
          <p:cNvSpPr txBox="1">
            <a:spLocks noGrp="1"/>
          </p:cNvSpPr>
          <p:nvPr>
            <p:ph type="body" idx="2"/>
          </p:nvPr>
        </p:nvSpPr>
        <p:spPr>
          <a:xfrm>
            <a:off x="629841" y="1878806"/>
            <a:ext cx="3868200" cy="276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lvl="0" indent="-3175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85" name="Google Shape;85;p18"/>
          <p:cNvSpPr txBox="1">
            <a:spLocks noGrp="1"/>
          </p:cNvSpPr>
          <p:nvPr>
            <p:ph type="body" idx="3"/>
          </p:nvPr>
        </p:nvSpPr>
        <p:spPr>
          <a:xfrm>
            <a:off x="4629150" y="1260872"/>
            <a:ext cx="3887400" cy="61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86" name="Google Shape;86;p18"/>
          <p:cNvSpPr txBox="1">
            <a:spLocks noGrp="1"/>
          </p:cNvSpPr>
          <p:nvPr>
            <p:ph type="body" idx="4"/>
          </p:nvPr>
        </p:nvSpPr>
        <p:spPr>
          <a:xfrm>
            <a:off x="4629150" y="1878806"/>
            <a:ext cx="3887400" cy="276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lvl="0" indent="-3175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87" name="Google Shape;87;p18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88" name="Google Shape;88;p18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89" name="Google Shape;89;p1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9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92" name="Google Shape;92;p19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93" name="Google Shape;93;p19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94" name="Google Shape;94;p19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0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97" name="Google Shape;97;p20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98" name="Google Shape;98;p20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1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300" cy="12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01" name="Google Shape;101;p21"/>
          <p:cNvSpPr txBox="1">
            <a:spLocks noGrp="1"/>
          </p:cNvSpPr>
          <p:nvPr>
            <p:ph type="body" idx="1"/>
          </p:nvPr>
        </p:nvSpPr>
        <p:spPr>
          <a:xfrm>
            <a:off x="3887391" y="740569"/>
            <a:ext cx="4629000" cy="36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lvl="0" indent="-3810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>
            <a:endParaRPr/>
          </a:p>
        </p:txBody>
      </p:sp>
      <p:sp>
        <p:nvSpPr>
          <p:cNvPr id="102" name="Google Shape;102;p21"/>
          <p:cNvSpPr txBox="1">
            <a:spLocks noGrp="1"/>
          </p:cNvSpPr>
          <p:nvPr>
            <p:ph type="body" idx="2"/>
          </p:nvPr>
        </p:nvSpPr>
        <p:spPr>
          <a:xfrm>
            <a:off x="629841" y="1543050"/>
            <a:ext cx="2949300" cy="28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103" name="Google Shape;103;p2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04" name="Google Shape;104;p21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05" name="Google Shape;105;p21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2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300" cy="12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08" name="Google Shape;108;p22"/>
          <p:cNvSpPr>
            <a:spLocks noGrp="1"/>
          </p:cNvSpPr>
          <p:nvPr>
            <p:ph type="pic" idx="2"/>
          </p:nvPr>
        </p:nvSpPr>
        <p:spPr>
          <a:xfrm>
            <a:off x="3887391" y="740569"/>
            <a:ext cx="4629000" cy="36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9" name="Google Shape;109;p22"/>
          <p:cNvSpPr txBox="1">
            <a:spLocks noGrp="1"/>
          </p:cNvSpPr>
          <p:nvPr>
            <p:ph type="body" idx="1"/>
          </p:nvPr>
        </p:nvSpPr>
        <p:spPr>
          <a:xfrm>
            <a:off x="629841" y="1543050"/>
            <a:ext cx="2949300" cy="28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110" name="Google Shape;110;p22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11" name="Google Shape;111;p2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12" name="Google Shape;112;p22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3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15" name="Google Shape;115;p23"/>
          <p:cNvSpPr txBox="1">
            <a:spLocks noGrp="1"/>
          </p:cNvSpPr>
          <p:nvPr>
            <p:ph type="body" idx="1"/>
          </p:nvPr>
        </p:nvSpPr>
        <p:spPr>
          <a:xfrm rot="5400000">
            <a:off x="2940300" y="-942431"/>
            <a:ext cx="3263400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lvl="0" indent="-3175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116" name="Google Shape;116;p23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17" name="Google Shape;117;p2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18" name="Google Shape;118;p2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4"/>
          <p:cNvSpPr txBox="1">
            <a:spLocks noGrp="1"/>
          </p:cNvSpPr>
          <p:nvPr>
            <p:ph type="title"/>
          </p:nvPr>
        </p:nvSpPr>
        <p:spPr>
          <a:xfrm rot="5400000">
            <a:off x="5350050" y="1467544"/>
            <a:ext cx="4359000" cy="19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21" name="Google Shape;121;p24"/>
          <p:cNvSpPr txBox="1">
            <a:spLocks noGrp="1"/>
          </p:cNvSpPr>
          <p:nvPr>
            <p:ph type="body" idx="1"/>
          </p:nvPr>
        </p:nvSpPr>
        <p:spPr>
          <a:xfrm rot="5400000">
            <a:off x="1349475" y="-447056"/>
            <a:ext cx="4359000" cy="58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lvl="0" indent="-3175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122" name="Google Shape;122;p24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23" name="Google Shape;123;p24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24" name="Google Shape;124;p2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6" name="Google Shape;126;p25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127" name="Google Shape;127;p25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" name="Google Shape;128;p25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29" name="Google Shape;129;p25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spcFirstLastPara="1" wrap="square" lIns="68575" tIns="34275" rIns="68575" bIns="3427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130" name="Google Shape;130;p25"/>
          <p:cNvSpPr txBox="1">
            <a:spLocks noGrp="1"/>
          </p:cNvSpPr>
          <p:nvPr>
            <p:ph type="body" idx="1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lvl="0" indent="-361950" rtl="0">
              <a:spcBef>
                <a:spcPts val="800"/>
              </a:spcBef>
              <a:spcAft>
                <a:spcPts val="0"/>
              </a:spcAft>
              <a:buSzPts val="2100"/>
              <a:buChar char="•"/>
              <a:defRPr/>
            </a:lvl1pPr>
            <a:lvl2pPr marL="914400" lvl="1" indent="-342900" rtl="0">
              <a:spcBef>
                <a:spcPts val="4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23850" rtl="0">
              <a:spcBef>
                <a:spcPts val="400"/>
              </a:spcBef>
              <a:spcAft>
                <a:spcPts val="0"/>
              </a:spcAft>
              <a:buSzPts val="1500"/>
              <a:buChar char="•"/>
              <a:defRPr/>
            </a:lvl3pPr>
            <a:lvl4pPr marL="1828800" lvl="3" indent="-317500" rtl="0"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4pPr>
            <a:lvl5pPr marL="2286000" lvl="4" indent="-317500" rtl="0"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5pPr>
            <a:lvl6pPr marL="2743200" lvl="5" indent="-317500" rtl="0"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6pPr>
            <a:lvl7pPr marL="3200400" lvl="6" indent="-317500" rtl="0"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7pPr>
            <a:lvl8pPr marL="3657600" lvl="7" indent="-317500" rtl="0"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8pPr>
            <a:lvl9pPr marL="4114800" lvl="8" indent="-317500" rtl="0"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131" name="Google Shape;131;p2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68575" tIns="34275" rIns="68575" bIns="3427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>
            <a:endParaRPr/>
          </a:p>
        </p:txBody>
      </p:sp>
      <p:sp>
        <p:nvSpPr>
          <p:cNvPr id="52" name="Google Shape;52;p13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3" name="Google Shape;53;p13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4" name="Google Shape;54;p1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5" name="Google Shape;55;p1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  <p:sldLayoutId id="2147483670" r:id="rId1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5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7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8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9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0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1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2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5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26"/>
          <p:cNvSpPr txBox="1"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</p:spPr>
        <p:txBody>
          <a:bodyPr spcFirstLastPara="1" wrap="square" lIns="68575" tIns="34275" rIns="68575" bIns="3427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7" name="Google Shape;137;p26"/>
          <p:cNvSpPr txBox="1"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700"/>
          </a:xfrm>
          <a:prstGeom prst="rect">
            <a:avLst/>
          </a:prstGeom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lvl="0" indent="0" algn="ctr" rtl="0">
              <a:spcBef>
                <a:spcPts val="80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8" name="Google Shape;138;p26"/>
          <p:cNvSpPr/>
          <p:nvPr/>
        </p:nvSpPr>
        <p:spPr>
          <a:xfrm>
            <a:off x="56775" y="0"/>
            <a:ext cx="9144000" cy="5143500"/>
          </a:xfrm>
          <a:prstGeom prst="rect">
            <a:avLst/>
          </a:prstGeom>
          <a:solidFill>
            <a:srgbClr val="3F3F3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Font typeface="Calibri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9" name="Google Shape;139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28225" y="-15950"/>
            <a:ext cx="9257376" cy="5175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0" name="Google Shape;140;p2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072651" y="4746387"/>
            <a:ext cx="1001477" cy="287535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26"/>
          <p:cNvSpPr txBox="1"/>
          <p:nvPr/>
        </p:nvSpPr>
        <p:spPr>
          <a:xfrm>
            <a:off x="3840325" y="1555950"/>
            <a:ext cx="4762800" cy="84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Font typeface="Calibri"/>
              <a:buNone/>
            </a:pPr>
            <a:r>
              <a:rPr lang="en" sz="4800" b="1">
                <a:solidFill>
                  <a:srgbClr val="F1C23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Flask</a:t>
            </a:r>
            <a:endParaRPr sz="4800" b="1">
              <a:solidFill>
                <a:srgbClr val="F1C23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42" name="Google Shape;142;p2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67975" y="1169650"/>
            <a:ext cx="2804225" cy="2804225"/>
          </a:xfrm>
          <a:prstGeom prst="rect">
            <a:avLst/>
          </a:prstGeom>
          <a:noFill/>
          <a:ln>
            <a:noFill/>
          </a:ln>
        </p:spPr>
      </p:pic>
      <p:sp>
        <p:nvSpPr>
          <p:cNvPr id="143" name="Google Shape;143;p26"/>
          <p:cNvSpPr txBox="1"/>
          <p:nvPr/>
        </p:nvSpPr>
        <p:spPr>
          <a:xfrm>
            <a:off x="3840325" y="2477250"/>
            <a:ext cx="28881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/>
            <a:r>
              <a:rPr lang="en-GB" sz="2200" dirty="0">
                <a:solidFill>
                  <a:srgbClr val="F1C23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By:  ̶</a:t>
            </a:r>
            <a:r>
              <a:rPr lang="en-GB" sz="2200" dirty="0" err="1">
                <a:solidFill>
                  <a:srgbClr val="F1C23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C̶h̶r̶i̶s̶t̶i̶a̶n</a:t>
            </a:r>
            <a:r>
              <a:rPr lang="en-GB" sz="2200" dirty="0">
                <a:solidFill>
                  <a:srgbClr val="F1C23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̶ ̶</a:t>
            </a:r>
            <a:r>
              <a:rPr lang="en-GB" sz="2200" dirty="0" err="1">
                <a:solidFill>
                  <a:srgbClr val="F1C23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E̶r̶i̶k̶s̶e̶n</a:t>
            </a:r>
            <a:r>
              <a:rPr lang="en-GB" sz="2200" dirty="0">
                <a:solidFill>
                  <a:srgbClr val="F1C23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̶</a:t>
            </a:r>
            <a:endParaRPr sz="2200" dirty="0">
              <a:solidFill>
                <a:srgbClr val="F1C23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" name="Google Shape;143;p26">
            <a:extLst>
              <a:ext uri="{FF2B5EF4-FFF2-40B4-BE49-F238E27FC236}">
                <a16:creationId xmlns:a16="http://schemas.microsoft.com/office/drawing/2014/main" id="{C85AC3D0-1330-8F45-EE6F-7D04FDD65466}"/>
              </a:ext>
            </a:extLst>
          </p:cNvPr>
          <p:cNvSpPr txBox="1"/>
          <p:nvPr/>
        </p:nvSpPr>
        <p:spPr>
          <a:xfrm>
            <a:off x="3850828" y="2791183"/>
            <a:ext cx="4032559" cy="5231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/>
            <a:r>
              <a:rPr lang="en-GB" sz="2200" dirty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Kenan Viteskic</a:t>
            </a:r>
            <a:endParaRPr sz="2200" dirty="0">
              <a:solidFill>
                <a:srgbClr val="FF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" name="Google Shape;143;p26">
            <a:extLst>
              <a:ext uri="{FF2B5EF4-FFF2-40B4-BE49-F238E27FC236}">
                <a16:creationId xmlns:a16="http://schemas.microsoft.com/office/drawing/2014/main" id="{17BE4165-F810-B6A7-553B-6A8CCCCAC683}"/>
              </a:ext>
            </a:extLst>
          </p:cNvPr>
          <p:cNvSpPr txBox="1"/>
          <p:nvPr/>
        </p:nvSpPr>
        <p:spPr>
          <a:xfrm>
            <a:off x="3841379" y="2199675"/>
            <a:ext cx="28881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/>
            <a:r>
              <a:rPr lang="en-GB" sz="2200" dirty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Plagiarized</a:t>
            </a:r>
            <a:endParaRPr sz="2200" dirty="0">
              <a:solidFill>
                <a:srgbClr val="FF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27"/>
          <p:cNvSpPr txBox="1"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</p:spPr>
        <p:txBody>
          <a:bodyPr spcFirstLastPara="1" wrap="square" lIns="68575" tIns="34275" rIns="68575" bIns="3427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9" name="Google Shape;149;p27"/>
          <p:cNvSpPr txBox="1"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700"/>
          </a:xfrm>
          <a:prstGeom prst="rect">
            <a:avLst/>
          </a:prstGeom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lvl="0" indent="0" algn="ctr" rtl="0">
              <a:spcBef>
                <a:spcPts val="80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0" name="Google Shape;150;p27"/>
          <p:cNvSpPr/>
          <p:nvPr/>
        </p:nvSpPr>
        <p:spPr>
          <a:xfrm>
            <a:off x="56775" y="0"/>
            <a:ext cx="9144000" cy="5143500"/>
          </a:xfrm>
          <a:prstGeom prst="rect">
            <a:avLst/>
          </a:prstGeom>
          <a:solidFill>
            <a:srgbClr val="3F3F3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Font typeface="Calibri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51" name="Google Shape;151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200774" cy="5175436"/>
          </a:xfrm>
          <a:prstGeom prst="rect">
            <a:avLst/>
          </a:prstGeom>
          <a:noFill/>
          <a:ln>
            <a:noFill/>
          </a:ln>
        </p:spPr>
      </p:pic>
      <p:pic>
        <p:nvPicPr>
          <p:cNvPr id="152" name="Google Shape;152;p2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072651" y="4746387"/>
            <a:ext cx="1001477" cy="287535"/>
          </a:xfrm>
          <a:prstGeom prst="rect">
            <a:avLst/>
          </a:prstGeom>
          <a:noFill/>
          <a:ln>
            <a:noFill/>
          </a:ln>
        </p:spPr>
      </p:pic>
      <p:sp>
        <p:nvSpPr>
          <p:cNvPr id="153" name="Google Shape;153;p27"/>
          <p:cNvSpPr txBox="1"/>
          <p:nvPr/>
        </p:nvSpPr>
        <p:spPr>
          <a:xfrm>
            <a:off x="577725" y="302125"/>
            <a:ext cx="6590700" cy="80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Font typeface="Calibri"/>
              <a:buNone/>
            </a:pPr>
            <a:r>
              <a:rPr lang="en" sz="4500">
                <a:solidFill>
                  <a:srgbClr val="F1C232"/>
                </a:solidFill>
                <a:latin typeface="Calibri"/>
                <a:ea typeface="Calibri"/>
                <a:cs typeface="Calibri"/>
                <a:sym typeface="Calibri"/>
              </a:rPr>
              <a:t>PDA</a:t>
            </a:r>
            <a:endParaRPr>
              <a:solidFill>
                <a:srgbClr val="F1C23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54" name="Google Shape;154;p2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51500" y="4586100"/>
            <a:ext cx="512625" cy="512625"/>
          </a:xfrm>
          <a:prstGeom prst="rect">
            <a:avLst/>
          </a:prstGeom>
          <a:noFill/>
          <a:ln>
            <a:noFill/>
          </a:ln>
        </p:spPr>
      </p:pic>
      <p:sp>
        <p:nvSpPr>
          <p:cNvPr id="155" name="Google Shape;155;p27"/>
          <p:cNvSpPr txBox="1"/>
          <p:nvPr/>
        </p:nvSpPr>
        <p:spPr>
          <a:xfrm>
            <a:off x="577725" y="1234725"/>
            <a:ext cx="81711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F1C23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27"/>
          <p:cNvSpPr txBox="1"/>
          <p:nvPr/>
        </p:nvSpPr>
        <p:spPr>
          <a:xfrm>
            <a:off x="577725" y="1234725"/>
            <a:ext cx="8171100" cy="298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Clr>
                <a:srgbClr val="F1C232"/>
              </a:buClr>
              <a:buSzPts val="1400"/>
              <a:buFont typeface="Calibri"/>
              <a:buChar char="-"/>
            </a:pPr>
            <a:r>
              <a:rPr lang="en" dirty="0">
                <a:solidFill>
                  <a:srgbClr val="F1C232"/>
                </a:solidFill>
                <a:latin typeface="Calibri"/>
                <a:ea typeface="Calibri"/>
                <a:cs typeface="Calibri"/>
                <a:sym typeface="Calibri"/>
              </a:rPr>
              <a:t>P: Purpose</a:t>
            </a:r>
            <a:endParaRPr dirty="0">
              <a:solidFill>
                <a:srgbClr val="F1C23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Clr>
                <a:srgbClr val="F1C232"/>
              </a:buClr>
              <a:buSzPts val="1400"/>
              <a:buFont typeface="Calibri"/>
              <a:buChar char="-"/>
            </a:pPr>
            <a:r>
              <a:rPr lang="en" dirty="0">
                <a:solidFill>
                  <a:srgbClr val="F1C232"/>
                </a:solidFill>
                <a:latin typeface="Calibri"/>
                <a:ea typeface="Calibri"/>
                <a:cs typeface="Calibri"/>
                <a:sym typeface="Calibri"/>
              </a:rPr>
              <a:t>Give you a basic introduction to a central part of web development</a:t>
            </a:r>
            <a:endParaRPr dirty="0">
              <a:solidFill>
                <a:srgbClr val="F1C23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Clr>
                <a:srgbClr val="F1C232"/>
              </a:buClr>
              <a:buSzPts val="1400"/>
              <a:buFont typeface="Calibri"/>
              <a:buChar char="-"/>
            </a:pPr>
            <a:r>
              <a:rPr lang="en" dirty="0">
                <a:solidFill>
                  <a:srgbClr val="F1C232"/>
                </a:solidFill>
                <a:latin typeface="Calibri"/>
                <a:ea typeface="Calibri"/>
                <a:cs typeface="Calibri"/>
                <a:sym typeface="Calibri"/>
              </a:rPr>
              <a:t>Give you the chance to learn by doing it yourself</a:t>
            </a:r>
            <a:endParaRPr dirty="0">
              <a:solidFill>
                <a:srgbClr val="F1C23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Clr>
                <a:srgbClr val="F1C232"/>
              </a:buClr>
              <a:buSzPts val="1400"/>
              <a:buFont typeface="Calibri"/>
              <a:buChar char="-"/>
            </a:pPr>
            <a:r>
              <a:rPr lang="en" dirty="0">
                <a:solidFill>
                  <a:srgbClr val="F1C232"/>
                </a:solidFill>
                <a:latin typeface="Calibri"/>
                <a:ea typeface="Calibri"/>
                <a:cs typeface="Calibri"/>
                <a:sym typeface="Calibri"/>
              </a:rPr>
              <a:t>DR: Desired Result</a:t>
            </a:r>
            <a:endParaRPr dirty="0">
              <a:solidFill>
                <a:srgbClr val="F1C23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Clr>
                <a:srgbClr val="F1C232"/>
              </a:buClr>
              <a:buSzPts val="1400"/>
              <a:buFont typeface="Calibri"/>
              <a:buChar char="-"/>
            </a:pPr>
            <a:r>
              <a:rPr lang="en" dirty="0">
                <a:solidFill>
                  <a:srgbClr val="F1C232"/>
                </a:solidFill>
                <a:latin typeface="Calibri"/>
                <a:ea typeface="Calibri"/>
                <a:cs typeface="Calibri"/>
                <a:sym typeface="Calibri"/>
              </a:rPr>
              <a:t>You should know the basic features of Flask</a:t>
            </a:r>
            <a:endParaRPr dirty="0">
              <a:solidFill>
                <a:srgbClr val="F1C23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Clr>
                <a:srgbClr val="F1C232"/>
              </a:buClr>
              <a:buSzPts val="1400"/>
              <a:buFont typeface="Calibri"/>
              <a:buChar char="-"/>
            </a:pPr>
            <a:r>
              <a:rPr lang="en" dirty="0">
                <a:solidFill>
                  <a:srgbClr val="F1C232"/>
                </a:solidFill>
                <a:latin typeface="Calibri"/>
                <a:ea typeface="Calibri"/>
                <a:cs typeface="Calibri"/>
                <a:sym typeface="Calibri"/>
              </a:rPr>
              <a:t>You should be able to create routes</a:t>
            </a:r>
            <a:endParaRPr dirty="0">
              <a:solidFill>
                <a:srgbClr val="F1C23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Clr>
                <a:srgbClr val="F1C232"/>
              </a:buClr>
              <a:buSzPts val="1400"/>
              <a:buFont typeface="Calibri"/>
              <a:buChar char="-"/>
            </a:pPr>
            <a:r>
              <a:rPr lang="en" dirty="0">
                <a:solidFill>
                  <a:srgbClr val="F1C232"/>
                </a:solidFill>
                <a:latin typeface="Calibri"/>
                <a:ea typeface="Calibri"/>
                <a:cs typeface="Calibri"/>
                <a:sym typeface="Calibri"/>
              </a:rPr>
              <a:t>You should be able to build simple html pages</a:t>
            </a:r>
            <a:endParaRPr dirty="0">
              <a:solidFill>
                <a:srgbClr val="F1C23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Clr>
                <a:srgbClr val="F1C232"/>
              </a:buClr>
              <a:buSzPts val="1400"/>
              <a:buFont typeface="Calibri"/>
              <a:buChar char="-"/>
            </a:pPr>
            <a:r>
              <a:rPr lang="en" dirty="0">
                <a:solidFill>
                  <a:srgbClr val="F1C232"/>
                </a:solidFill>
                <a:latin typeface="Calibri"/>
                <a:ea typeface="Calibri"/>
                <a:cs typeface="Calibri"/>
                <a:sym typeface="Calibri"/>
              </a:rPr>
              <a:t>A:Agenda</a:t>
            </a:r>
            <a:endParaRPr dirty="0">
              <a:solidFill>
                <a:srgbClr val="F1C23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rgbClr val="F1C232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dirty="0">
              <a:solidFill>
                <a:srgbClr val="F1C23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solidFill>
                <a:srgbClr val="F1C23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solidFill>
                <a:srgbClr val="F1C23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solidFill>
                <a:srgbClr val="F1C23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solidFill>
                <a:srgbClr val="F1C23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28"/>
          <p:cNvSpPr txBox="1"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</p:spPr>
        <p:txBody>
          <a:bodyPr spcFirstLastPara="1" wrap="square" lIns="68575" tIns="34275" rIns="68575" bIns="3427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2" name="Google Shape;162;p28"/>
          <p:cNvSpPr txBox="1"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700"/>
          </a:xfrm>
          <a:prstGeom prst="rect">
            <a:avLst/>
          </a:prstGeom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lvl="0" indent="0" algn="ctr" rtl="0">
              <a:spcBef>
                <a:spcPts val="80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3" name="Google Shape;163;p28"/>
          <p:cNvSpPr/>
          <p:nvPr/>
        </p:nvSpPr>
        <p:spPr>
          <a:xfrm>
            <a:off x="56775" y="0"/>
            <a:ext cx="9144000" cy="5143500"/>
          </a:xfrm>
          <a:prstGeom prst="rect">
            <a:avLst/>
          </a:prstGeom>
          <a:solidFill>
            <a:srgbClr val="3F3F3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Font typeface="Calibri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64" name="Google Shape;164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200774" cy="5175436"/>
          </a:xfrm>
          <a:prstGeom prst="rect">
            <a:avLst/>
          </a:prstGeom>
          <a:noFill/>
          <a:ln>
            <a:noFill/>
          </a:ln>
        </p:spPr>
      </p:pic>
      <p:pic>
        <p:nvPicPr>
          <p:cNvPr id="165" name="Google Shape;165;p2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072651" y="4746387"/>
            <a:ext cx="1001477" cy="287535"/>
          </a:xfrm>
          <a:prstGeom prst="rect">
            <a:avLst/>
          </a:prstGeom>
          <a:noFill/>
          <a:ln>
            <a:noFill/>
          </a:ln>
        </p:spPr>
      </p:pic>
      <p:sp>
        <p:nvSpPr>
          <p:cNvPr id="166" name="Google Shape;166;p28"/>
          <p:cNvSpPr txBox="1"/>
          <p:nvPr/>
        </p:nvSpPr>
        <p:spPr>
          <a:xfrm>
            <a:off x="577725" y="302125"/>
            <a:ext cx="6590700" cy="80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Font typeface="Calibri"/>
              <a:buNone/>
            </a:pPr>
            <a:r>
              <a:rPr lang="en" sz="4500">
                <a:solidFill>
                  <a:srgbClr val="F1C232"/>
                </a:solidFill>
                <a:latin typeface="Calibri"/>
                <a:ea typeface="Calibri"/>
                <a:cs typeface="Calibri"/>
                <a:sym typeface="Calibri"/>
              </a:rPr>
              <a:t>Agenda</a:t>
            </a:r>
            <a:endParaRPr>
              <a:solidFill>
                <a:srgbClr val="F1C23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67" name="Google Shape;167;p28"/>
          <p:cNvGraphicFramePr/>
          <p:nvPr>
            <p:extLst>
              <p:ext uri="{D42A27DB-BD31-4B8C-83A1-F6EECF244321}">
                <p14:modId xmlns:p14="http://schemas.microsoft.com/office/powerpoint/2010/main" val="3084399580"/>
              </p:ext>
            </p:extLst>
          </p:nvPr>
        </p:nvGraphicFramePr>
        <p:xfrm>
          <a:off x="577725" y="1382875"/>
          <a:ext cx="7785800" cy="2750000"/>
        </p:xfrm>
        <a:graphic>
          <a:graphicData uri="http://schemas.openxmlformats.org/drawingml/2006/table">
            <a:tbl>
              <a:tblPr>
                <a:noFill/>
                <a:tableStyleId>{411124F2-A59B-481F-90A4-E3CCEB1B5412}</a:tableStyleId>
              </a:tblPr>
              <a:tblGrid>
                <a:gridCol w="7209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0649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486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100" dirty="0">
                          <a:solidFill>
                            <a:srgbClr val="F1C232"/>
                          </a:solidFill>
                        </a:rPr>
                        <a:t>01</a:t>
                      </a:r>
                      <a:endParaRPr sz="2100" dirty="0">
                        <a:solidFill>
                          <a:srgbClr val="F1C232"/>
                        </a:solidFill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F1C232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1C232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1C232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1C232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 dirty="0">
                          <a:solidFill>
                            <a:srgbClr val="F1C232"/>
                          </a:solidFill>
                        </a:rPr>
                        <a:t>The plan going forward</a:t>
                      </a:r>
                    </a:p>
                  </a:txBody>
                  <a:tcPr marL="91425" marR="91425" marT="91425" marB="91425">
                    <a:lnL w="9525" cap="flat" cmpd="sng">
                      <a:solidFill>
                        <a:srgbClr val="F1C232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1C232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1C232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1C232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556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100" dirty="0">
                          <a:solidFill>
                            <a:srgbClr val="F1C232"/>
                          </a:solidFill>
                        </a:rPr>
                        <a:t>02</a:t>
                      </a:r>
                      <a:endParaRPr sz="2100" dirty="0">
                        <a:solidFill>
                          <a:srgbClr val="F1C232"/>
                        </a:solidFill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F1C232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1C232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1C232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1C232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 dirty="0">
                          <a:solidFill>
                            <a:srgbClr val="F1C232"/>
                          </a:solidFill>
                        </a:rPr>
                        <a:t>What Flask is and why we use it</a:t>
                      </a:r>
                    </a:p>
                  </a:txBody>
                  <a:tcPr marL="91425" marR="91425" marT="91425" marB="91425">
                    <a:lnL w="9525" cap="flat" cmpd="sng">
                      <a:solidFill>
                        <a:srgbClr val="F1C232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1C232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1C232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1C232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6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2000">
                          <a:solidFill>
                            <a:srgbClr val="F1C232"/>
                          </a:solidFill>
                        </a:rPr>
                        <a:t>03</a:t>
                      </a:r>
                      <a:endParaRPr sz="2000"/>
                    </a:p>
                  </a:txBody>
                  <a:tcPr marL="91425" marR="91425" marT="91425" marB="91425">
                    <a:lnL w="9525" cap="flat" cmpd="sng">
                      <a:solidFill>
                        <a:srgbClr val="F1C232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1C232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1C232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1C232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 dirty="0">
                          <a:solidFill>
                            <a:srgbClr val="F1C232"/>
                          </a:solidFill>
                        </a:rPr>
                        <a:t>Flask basics and flask structure</a:t>
                      </a:r>
                    </a:p>
                  </a:txBody>
                  <a:tcPr marL="91425" marR="91425" marT="91425" marB="91425">
                    <a:lnL w="9525" cap="flat" cmpd="sng">
                      <a:solidFill>
                        <a:srgbClr val="F1C232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1C232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1C232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1C232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86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2100">
                          <a:solidFill>
                            <a:srgbClr val="F1C232"/>
                          </a:solidFill>
                        </a:rPr>
                        <a:t>04</a:t>
                      </a:r>
                      <a:endParaRPr sz="2100"/>
                    </a:p>
                  </a:txBody>
                  <a:tcPr marL="91425" marR="91425" marT="91425" marB="91425">
                    <a:lnL w="9525" cap="flat" cmpd="sng">
                      <a:solidFill>
                        <a:srgbClr val="F1C232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1C232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1C232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1C232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64008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 dirty="0">
                          <a:solidFill>
                            <a:srgbClr val="F1C232"/>
                          </a:solidFill>
                        </a:rPr>
                        <a:t>Demo</a:t>
                      </a:r>
                    </a:p>
                  </a:txBody>
                  <a:tcPr marL="91425" marR="91425" marT="91425" marB="91425">
                    <a:lnL w="9525" cap="flat" cmpd="sng">
                      <a:solidFill>
                        <a:srgbClr val="F1C232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1C232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1C232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1C232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86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2100">
                          <a:solidFill>
                            <a:srgbClr val="F1C232"/>
                          </a:solidFill>
                        </a:rPr>
                        <a:t>05</a:t>
                      </a:r>
                      <a:endParaRPr sz="2100">
                        <a:solidFill>
                          <a:srgbClr val="F1C232"/>
                        </a:solidFill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F1C232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1C232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1C232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1C232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64008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 dirty="0">
                          <a:solidFill>
                            <a:srgbClr val="F1C232"/>
                          </a:solidFill>
                        </a:rPr>
                        <a:t>Hands-on exercise</a:t>
                      </a:r>
                    </a:p>
                  </a:txBody>
                  <a:tcPr marL="91425" marR="91425" marT="91425" marB="91425">
                    <a:lnL w="9525" cap="flat" cmpd="sng">
                      <a:solidFill>
                        <a:srgbClr val="F1C232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1C232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1C232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1C232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pic>
        <p:nvPicPr>
          <p:cNvPr id="168" name="Google Shape;168;p2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51500" y="4586100"/>
            <a:ext cx="512625" cy="512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29"/>
          <p:cNvSpPr txBox="1"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</p:spPr>
        <p:txBody>
          <a:bodyPr spcFirstLastPara="1" wrap="square" lIns="68575" tIns="34275" rIns="68575" bIns="3427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4" name="Google Shape;174;p29"/>
          <p:cNvSpPr txBox="1"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700"/>
          </a:xfrm>
          <a:prstGeom prst="rect">
            <a:avLst/>
          </a:prstGeom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lvl="0" indent="0" algn="ctr" rtl="0">
              <a:spcBef>
                <a:spcPts val="80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5" name="Google Shape;175;p29"/>
          <p:cNvSpPr/>
          <p:nvPr/>
        </p:nvSpPr>
        <p:spPr>
          <a:xfrm>
            <a:off x="56775" y="0"/>
            <a:ext cx="9144000" cy="5143500"/>
          </a:xfrm>
          <a:prstGeom prst="rect">
            <a:avLst/>
          </a:prstGeom>
          <a:solidFill>
            <a:srgbClr val="3F3F3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Font typeface="Calibri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76" name="Google Shape;176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200774" cy="5175436"/>
          </a:xfrm>
          <a:prstGeom prst="rect">
            <a:avLst/>
          </a:prstGeom>
          <a:noFill/>
          <a:ln>
            <a:noFill/>
          </a:ln>
        </p:spPr>
      </p:pic>
      <p:pic>
        <p:nvPicPr>
          <p:cNvPr id="177" name="Google Shape;177;p2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072651" y="4746387"/>
            <a:ext cx="1001477" cy="287535"/>
          </a:xfrm>
          <a:prstGeom prst="rect">
            <a:avLst/>
          </a:prstGeom>
          <a:noFill/>
          <a:ln>
            <a:noFill/>
          </a:ln>
        </p:spPr>
      </p:pic>
      <p:sp>
        <p:nvSpPr>
          <p:cNvPr id="178" name="Google Shape;178;p29"/>
          <p:cNvSpPr txBox="1"/>
          <p:nvPr/>
        </p:nvSpPr>
        <p:spPr>
          <a:xfrm>
            <a:off x="577725" y="302125"/>
            <a:ext cx="6590700" cy="80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Font typeface="Calibri"/>
              <a:buNone/>
            </a:pPr>
            <a:r>
              <a:rPr lang="en" sz="4500">
                <a:solidFill>
                  <a:srgbClr val="F1C232"/>
                </a:solidFill>
                <a:latin typeface="Calibri"/>
                <a:ea typeface="Calibri"/>
                <a:cs typeface="Calibri"/>
                <a:sym typeface="Calibri"/>
              </a:rPr>
              <a:t>The plan going forward</a:t>
            </a:r>
            <a:endParaRPr>
              <a:solidFill>
                <a:srgbClr val="F1C23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79" name="Google Shape;179;p2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51500" y="4586100"/>
            <a:ext cx="512625" cy="512625"/>
          </a:xfrm>
          <a:prstGeom prst="rect">
            <a:avLst/>
          </a:prstGeom>
          <a:noFill/>
          <a:ln>
            <a:noFill/>
          </a:ln>
        </p:spPr>
      </p:pic>
      <p:sp>
        <p:nvSpPr>
          <p:cNvPr id="180" name="Google Shape;180;p29"/>
          <p:cNvSpPr txBox="1"/>
          <p:nvPr/>
        </p:nvSpPr>
        <p:spPr>
          <a:xfrm>
            <a:off x="577725" y="1234725"/>
            <a:ext cx="8171100" cy="29854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Clr>
                <a:srgbClr val="F1C232"/>
              </a:buClr>
              <a:buSzPts val="1400"/>
              <a:buFont typeface="Calibri"/>
              <a:buChar char="-"/>
            </a:pPr>
            <a:r>
              <a:rPr lang="en" dirty="0">
                <a:solidFill>
                  <a:srgbClr val="F1C232"/>
                </a:solidFill>
                <a:latin typeface="Calibri"/>
                <a:ea typeface="Calibri"/>
                <a:cs typeface="Calibri"/>
                <a:sym typeface="Calibri"/>
              </a:rPr>
              <a:t>Today: Introductory course</a:t>
            </a:r>
            <a:endParaRPr dirty="0">
              <a:solidFill>
                <a:srgbClr val="F1C23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Clr>
                <a:srgbClr val="F1C232"/>
              </a:buClr>
              <a:buSzPts val="1400"/>
              <a:buFont typeface="Calibri"/>
              <a:buChar char="-"/>
            </a:pPr>
            <a:r>
              <a:rPr lang="en" dirty="0">
                <a:solidFill>
                  <a:srgbClr val="F1C232"/>
                </a:solidFill>
                <a:latin typeface="Calibri"/>
                <a:ea typeface="Calibri"/>
                <a:cs typeface="Calibri"/>
                <a:sym typeface="Calibri"/>
              </a:rPr>
              <a:t>Purpose: Give you an introduction</a:t>
            </a:r>
            <a:endParaRPr dirty="0">
              <a:solidFill>
                <a:srgbClr val="F1C23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Clr>
                <a:srgbClr val="F1C232"/>
              </a:buClr>
              <a:buSzPts val="1400"/>
              <a:buFont typeface="Calibri"/>
              <a:buChar char="-"/>
            </a:pPr>
            <a:r>
              <a:rPr lang="en" dirty="0">
                <a:solidFill>
                  <a:srgbClr val="F1C232"/>
                </a:solidFill>
                <a:latin typeface="Calibri"/>
                <a:ea typeface="Calibri"/>
                <a:cs typeface="Calibri"/>
                <a:sym typeface="Calibri"/>
              </a:rPr>
              <a:t>Workshop 1: Communication</a:t>
            </a:r>
            <a:endParaRPr dirty="0">
              <a:solidFill>
                <a:srgbClr val="F1C23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Clr>
                <a:srgbClr val="F1C232"/>
              </a:buClr>
              <a:buSzPts val="1400"/>
              <a:buFont typeface="Calibri"/>
              <a:buChar char="-"/>
            </a:pPr>
            <a:r>
              <a:rPr lang="en" dirty="0">
                <a:solidFill>
                  <a:srgbClr val="F1C232"/>
                </a:solidFill>
                <a:latin typeface="Calibri"/>
                <a:ea typeface="Calibri"/>
                <a:cs typeface="Calibri"/>
                <a:sym typeface="Calibri"/>
              </a:rPr>
              <a:t>Purpose: Teach you to receive and send data over the network</a:t>
            </a:r>
            <a:endParaRPr dirty="0">
              <a:solidFill>
                <a:srgbClr val="F1C23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Clr>
                <a:srgbClr val="F1C232"/>
              </a:buClr>
              <a:buSzPts val="1400"/>
              <a:buFont typeface="Calibri"/>
              <a:buChar char="-"/>
            </a:pPr>
            <a:r>
              <a:rPr lang="en" dirty="0">
                <a:solidFill>
                  <a:srgbClr val="F1C232"/>
                </a:solidFill>
                <a:latin typeface="Calibri"/>
                <a:ea typeface="Calibri"/>
                <a:cs typeface="Calibri"/>
                <a:sym typeface="Calibri"/>
              </a:rPr>
              <a:t>Workshop 2: Databases</a:t>
            </a:r>
            <a:endParaRPr dirty="0">
              <a:solidFill>
                <a:srgbClr val="F1C23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Clr>
                <a:srgbClr val="F1C232"/>
              </a:buClr>
              <a:buSzPts val="1400"/>
              <a:buFont typeface="Calibri"/>
              <a:buChar char="-"/>
            </a:pPr>
            <a:r>
              <a:rPr lang="en" dirty="0">
                <a:solidFill>
                  <a:srgbClr val="F1C232"/>
                </a:solidFill>
                <a:latin typeface="Calibri"/>
                <a:ea typeface="Calibri"/>
                <a:cs typeface="Calibri"/>
                <a:sym typeface="Calibri"/>
              </a:rPr>
              <a:t>Purpose: Teach you to read/write data from the database</a:t>
            </a:r>
            <a:endParaRPr dirty="0">
              <a:solidFill>
                <a:srgbClr val="F1C23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Clr>
                <a:srgbClr val="F1C232"/>
              </a:buClr>
              <a:buSzPts val="1400"/>
              <a:buFont typeface="Calibri"/>
              <a:buChar char="-"/>
            </a:pPr>
            <a:r>
              <a:rPr lang="en" dirty="0">
                <a:solidFill>
                  <a:srgbClr val="F1C232"/>
                </a:solidFill>
                <a:latin typeface="Calibri"/>
                <a:ea typeface="Calibri"/>
                <a:cs typeface="Calibri"/>
                <a:sym typeface="Calibri"/>
              </a:rPr>
              <a:t>Workshop 3: Javascript</a:t>
            </a:r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Clr>
                <a:srgbClr val="F1C232"/>
              </a:buClr>
              <a:buSzPts val="1400"/>
              <a:buFont typeface="Calibri"/>
              <a:buChar char="-"/>
            </a:pPr>
            <a:r>
              <a:rPr lang="en" dirty="0">
                <a:solidFill>
                  <a:srgbClr val="F1C232"/>
                </a:solidFill>
                <a:latin typeface="Calibri"/>
                <a:ea typeface="Calibri"/>
                <a:cs typeface="Calibri"/>
                <a:sym typeface="Calibri"/>
              </a:rPr>
              <a:t>Purpose: Teach you </a:t>
            </a:r>
            <a:r>
              <a:rPr lang="nb-NO" dirty="0" err="1">
                <a:solidFill>
                  <a:srgbClr val="F1C232"/>
                </a:solidFill>
                <a:latin typeface="Calibri"/>
                <a:ea typeface="Calibri"/>
                <a:cs typeface="Calibri"/>
                <a:sym typeface="Calibri"/>
              </a:rPr>
              <a:t>how</a:t>
            </a:r>
            <a:r>
              <a:rPr lang="nb-NO" dirty="0">
                <a:solidFill>
                  <a:srgbClr val="F1C232"/>
                </a:solidFill>
                <a:latin typeface="Calibri"/>
                <a:ea typeface="Calibri"/>
                <a:cs typeface="Calibri"/>
                <a:sym typeface="Calibri"/>
              </a:rPr>
              <a:t> to </a:t>
            </a:r>
            <a:r>
              <a:rPr lang="nb-NO" dirty="0" err="1">
                <a:solidFill>
                  <a:srgbClr val="F1C232"/>
                </a:solidFill>
                <a:latin typeface="Calibri"/>
                <a:ea typeface="Calibri"/>
                <a:cs typeface="Calibri"/>
                <a:sym typeface="Calibri"/>
              </a:rPr>
              <a:t>add</a:t>
            </a:r>
            <a:r>
              <a:rPr lang="nb-NO" dirty="0">
                <a:solidFill>
                  <a:srgbClr val="F1C232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nb-NO" dirty="0" err="1">
                <a:solidFill>
                  <a:srgbClr val="F1C232"/>
                </a:solidFill>
                <a:latin typeface="Calibri"/>
                <a:ea typeface="Calibri"/>
                <a:cs typeface="Calibri"/>
                <a:sym typeface="Calibri"/>
              </a:rPr>
              <a:t>functionality</a:t>
            </a:r>
            <a:r>
              <a:rPr lang="nb-NO" dirty="0">
                <a:solidFill>
                  <a:srgbClr val="F1C232"/>
                </a:solidFill>
                <a:latin typeface="Calibri"/>
                <a:ea typeface="Calibri"/>
                <a:cs typeface="Calibri"/>
                <a:sym typeface="Calibri"/>
              </a:rPr>
              <a:t> to </a:t>
            </a:r>
            <a:r>
              <a:rPr lang="nb-NO" dirty="0" err="1">
                <a:solidFill>
                  <a:srgbClr val="F1C232"/>
                </a:solidFill>
                <a:latin typeface="Calibri"/>
                <a:ea typeface="Calibri"/>
                <a:cs typeface="Calibri"/>
                <a:sym typeface="Calibri"/>
              </a:rPr>
              <a:t>your</a:t>
            </a:r>
            <a:r>
              <a:rPr lang="nb-NO" dirty="0">
                <a:solidFill>
                  <a:srgbClr val="F1C232"/>
                </a:solidFill>
                <a:latin typeface="Calibri"/>
                <a:ea typeface="Calibri"/>
                <a:cs typeface="Calibri"/>
                <a:sym typeface="Calibri"/>
              </a:rPr>
              <a:t> website </a:t>
            </a:r>
            <a:r>
              <a:rPr lang="nb-NO" dirty="0" err="1">
                <a:solidFill>
                  <a:srgbClr val="F1C232"/>
                </a:solidFill>
                <a:latin typeface="Calibri"/>
                <a:ea typeface="Calibri"/>
                <a:cs typeface="Calibri"/>
                <a:sym typeface="Calibri"/>
              </a:rPr>
              <a:t>with</a:t>
            </a:r>
            <a:r>
              <a:rPr lang="nb-NO" dirty="0">
                <a:solidFill>
                  <a:srgbClr val="F1C232"/>
                </a:solidFill>
                <a:latin typeface="Calibri"/>
                <a:ea typeface="Calibri"/>
                <a:cs typeface="Calibri"/>
                <a:sym typeface="Calibri"/>
              </a:rPr>
              <a:t> JS</a:t>
            </a:r>
          </a:p>
          <a:p>
            <a:pPr marL="457200" lvl="0" indent="-317500">
              <a:buClr>
                <a:srgbClr val="F1C232"/>
              </a:buClr>
              <a:buSzPts val="1400"/>
              <a:buFont typeface="Calibri"/>
              <a:buChar char="-"/>
            </a:pPr>
            <a:r>
              <a:rPr lang="en" dirty="0">
                <a:solidFill>
                  <a:srgbClr val="F1C232"/>
                </a:solidFill>
                <a:latin typeface="Calibri"/>
                <a:ea typeface="Calibri"/>
                <a:cs typeface="Calibri"/>
                <a:sym typeface="Calibri"/>
              </a:rPr>
              <a:t>Workshop 4: AI</a:t>
            </a:r>
          </a:p>
          <a:p>
            <a:pPr marL="914400" lvl="1" indent="-317500">
              <a:buClr>
                <a:srgbClr val="F1C232"/>
              </a:buClr>
              <a:buSzPts val="1400"/>
              <a:buFont typeface="Calibri"/>
              <a:buChar char="-"/>
            </a:pPr>
            <a:r>
              <a:rPr lang="en" dirty="0">
                <a:solidFill>
                  <a:srgbClr val="F1C232"/>
                </a:solidFill>
                <a:latin typeface="Calibri"/>
                <a:ea typeface="Calibri"/>
                <a:cs typeface="Calibri"/>
                <a:sym typeface="Calibri"/>
              </a:rPr>
              <a:t>Purpose: Teach you </a:t>
            </a:r>
            <a:r>
              <a:rPr lang="nb-NO" dirty="0" err="1">
                <a:solidFill>
                  <a:srgbClr val="F1C232"/>
                </a:solidFill>
                <a:latin typeface="Calibri"/>
                <a:ea typeface="Calibri"/>
                <a:cs typeface="Calibri"/>
                <a:sym typeface="Calibri"/>
              </a:rPr>
              <a:t>how</a:t>
            </a:r>
            <a:r>
              <a:rPr lang="nb-NO" dirty="0">
                <a:solidFill>
                  <a:srgbClr val="F1C232"/>
                </a:solidFill>
                <a:latin typeface="Calibri"/>
                <a:ea typeface="Calibri"/>
                <a:cs typeface="Calibri"/>
                <a:sym typeface="Calibri"/>
              </a:rPr>
              <a:t> to </a:t>
            </a:r>
            <a:r>
              <a:rPr lang="nb-NO" dirty="0" err="1">
                <a:solidFill>
                  <a:srgbClr val="F1C232"/>
                </a:solidFill>
                <a:latin typeface="Calibri"/>
                <a:ea typeface="Calibri"/>
                <a:cs typeface="Calibri"/>
                <a:sym typeface="Calibri"/>
              </a:rPr>
              <a:t>use</a:t>
            </a:r>
            <a:r>
              <a:rPr lang="nb-NO" dirty="0">
                <a:solidFill>
                  <a:srgbClr val="F1C232"/>
                </a:solidFill>
                <a:latin typeface="Calibri"/>
                <a:ea typeface="Calibri"/>
                <a:cs typeface="Calibri"/>
                <a:sym typeface="Calibri"/>
              </a:rPr>
              <a:t> AI </a:t>
            </a:r>
            <a:r>
              <a:rPr lang="nb-NO" dirty="0" err="1">
                <a:solidFill>
                  <a:srgbClr val="F1C232"/>
                </a:solidFill>
                <a:latin typeface="Calibri"/>
                <a:ea typeface="Calibri"/>
                <a:cs typeface="Calibri"/>
                <a:sym typeface="Calibri"/>
              </a:rPr>
              <a:t>coding</a:t>
            </a:r>
            <a:r>
              <a:rPr lang="nb-NO" dirty="0">
                <a:solidFill>
                  <a:srgbClr val="F1C232"/>
                </a:solidFill>
                <a:latin typeface="Calibri"/>
                <a:ea typeface="Calibri"/>
                <a:cs typeface="Calibri"/>
                <a:sym typeface="Calibri"/>
              </a:rPr>
              <a:t> agents to </a:t>
            </a:r>
            <a:r>
              <a:rPr lang="nb-NO" dirty="0" err="1">
                <a:solidFill>
                  <a:srgbClr val="F1C232"/>
                </a:solidFill>
                <a:latin typeface="Calibri"/>
                <a:ea typeface="Calibri"/>
                <a:cs typeface="Calibri"/>
                <a:sym typeface="Calibri"/>
              </a:rPr>
              <a:t>their</a:t>
            </a:r>
            <a:r>
              <a:rPr lang="nb-NO" dirty="0">
                <a:solidFill>
                  <a:srgbClr val="F1C232"/>
                </a:solidFill>
                <a:latin typeface="Calibri"/>
                <a:ea typeface="Calibri"/>
                <a:cs typeface="Calibri"/>
                <a:sym typeface="Calibri"/>
              </a:rPr>
              <a:t> full </a:t>
            </a:r>
            <a:r>
              <a:rPr lang="nb-NO" dirty="0" err="1">
                <a:solidFill>
                  <a:srgbClr val="F1C232"/>
                </a:solidFill>
                <a:latin typeface="Calibri"/>
                <a:ea typeface="Calibri"/>
                <a:cs typeface="Calibri"/>
                <a:sym typeface="Calibri"/>
              </a:rPr>
              <a:t>potential</a:t>
            </a:r>
            <a:endParaRPr lang="nb-NO" dirty="0">
              <a:solidFill>
                <a:srgbClr val="F1C23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solidFill>
                <a:srgbClr val="F1C23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solidFill>
                <a:srgbClr val="F1C23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solidFill>
                <a:srgbClr val="F1C23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30"/>
          <p:cNvSpPr txBox="1"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</p:spPr>
        <p:txBody>
          <a:bodyPr spcFirstLastPara="1" wrap="square" lIns="68575" tIns="34275" rIns="68575" bIns="3427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6" name="Google Shape;186;p30"/>
          <p:cNvSpPr txBox="1"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700"/>
          </a:xfrm>
          <a:prstGeom prst="rect">
            <a:avLst/>
          </a:prstGeom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lvl="0" indent="0" algn="ctr" rtl="0">
              <a:spcBef>
                <a:spcPts val="80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7" name="Google Shape;187;p30"/>
          <p:cNvSpPr/>
          <p:nvPr/>
        </p:nvSpPr>
        <p:spPr>
          <a:xfrm>
            <a:off x="56775" y="0"/>
            <a:ext cx="9144000" cy="5143500"/>
          </a:xfrm>
          <a:prstGeom prst="rect">
            <a:avLst/>
          </a:prstGeom>
          <a:solidFill>
            <a:srgbClr val="3F3F3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Font typeface="Calibri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88" name="Google Shape;188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200774" cy="5175436"/>
          </a:xfrm>
          <a:prstGeom prst="rect">
            <a:avLst/>
          </a:prstGeom>
          <a:noFill/>
          <a:ln>
            <a:noFill/>
          </a:ln>
        </p:spPr>
      </p:pic>
      <p:pic>
        <p:nvPicPr>
          <p:cNvPr id="189" name="Google Shape;189;p3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072651" y="4746387"/>
            <a:ext cx="1001477" cy="287535"/>
          </a:xfrm>
          <a:prstGeom prst="rect">
            <a:avLst/>
          </a:prstGeom>
          <a:noFill/>
          <a:ln>
            <a:noFill/>
          </a:ln>
        </p:spPr>
      </p:pic>
      <p:sp>
        <p:nvSpPr>
          <p:cNvPr id="190" name="Google Shape;190;p30"/>
          <p:cNvSpPr txBox="1"/>
          <p:nvPr/>
        </p:nvSpPr>
        <p:spPr>
          <a:xfrm>
            <a:off x="577725" y="302125"/>
            <a:ext cx="6590700" cy="80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Font typeface="Calibri"/>
              <a:buNone/>
            </a:pPr>
            <a:r>
              <a:rPr lang="en" sz="4500" dirty="0">
                <a:solidFill>
                  <a:srgbClr val="F1C232"/>
                </a:solidFill>
                <a:latin typeface="Calibri"/>
                <a:ea typeface="Calibri"/>
                <a:cs typeface="Calibri"/>
                <a:sym typeface="Calibri"/>
              </a:rPr>
              <a:t>What is Flask?</a:t>
            </a:r>
            <a:endParaRPr dirty="0">
              <a:solidFill>
                <a:srgbClr val="F1C23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91" name="Google Shape;191;p3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51500" y="4586100"/>
            <a:ext cx="512625" cy="512625"/>
          </a:xfrm>
          <a:prstGeom prst="rect">
            <a:avLst/>
          </a:prstGeom>
          <a:noFill/>
          <a:ln>
            <a:noFill/>
          </a:ln>
        </p:spPr>
      </p:pic>
      <p:sp>
        <p:nvSpPr>
          <p:cNvPr id="192" name="Google Shape;192;p30"/>
          <p:cNvSpPr txBox="1"/>
          <p:nvPr/>
        </p:nvSpPr>
        <p:spPr>
          <a:xfrm>
            <a:off x="577725" y="1234725"/>
            <a:ext cx="8171100" cy="212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Clr>
                <a:srgbClr val="F1C232"/>
              </a:buClr>
              <a:buSzPts val="1400"/>
              <a:buFont typeface="Calibri"/>
              <a:buChar char="-"/>
            </a:pPr>
            <a:r>
              <a:rPr lang="en">
                <a:solidFill>
                  <a:srgbClr val="F1C232"/>
                </a:solidFill>
                <a:latin typeface="Calibri"/>
                <a:ea typeface="Calibri"/>
                <a:cs typeface="Calibri"/>
                <a:sym typeface="Calibri"/>
              </a:rPr>
              <a:t>Flask is a micro web framework written in Python</a:t>
            </a:r>
            <a:endParaRPr>
              <a:solidFill>
                <a:srgbClr val="F1C23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Clr>
                <a:srgbClr val="F1C232"/>
              </a:buClr>
              <a:buSzPts val="1400"/>
              <a:buFont typeface="Calibri"/>
              <a:buChar char="-"/>
            </a:pPr>
            <a:r>
              <a:rPr lang="en">
                <a:solidFill>
                  <a:srgbClr val="F1C232"/>
                </a:solidFill>
                <a:latin typeface="Calibri"/>
                <a:ea typeface="Calibri"/>
                <a:cs typeface="Calibri"/>
                <a:sym typeface="Calibri"/>
              </a:rPr>
              <a:t>What does micro web framework mean?</a:t>
            </a:r>
            <a:endParaRPr>
              <a:solidFill>
                <a:srgbClr val="F1C23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Clr>
                <a:srgbClr val="F1C232"/>
              </a:buClr>
              <a:buSzPts val="1400"/>
              <a:buFont typeface="Calibri"/>
              <a:buChar char="-"/>
            </a:pPr>
            <a:r>
              <a:rPr lang="en">
                <a:solidFill>
                  <a:srgbClr val="F1C232"/>
                </a:solidFill>
                <a:latin typeface="Calibri"/>
                <a:ea typeface="Calibri"/>
                <a:cs typeface="Calibri"/>
                <a:sym typeface="Calibri"/>
              </a:rPr>
              <a:t>It covers only the essentials</a:t>
            </a:r>
            <a:endParaRPr>
              <a:solidFill>
                <a:srgbClr val="F1C23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371600" lvl="2" indent="-317500" algn="l" rtl="0">
              <a:spcBef>
                <a:spcPts val="0"/>
              </a:spcBef>
              <a:spcAft>
                <a:spcPts val="0"/>
              </a:spcAft>
              <a:buClr>
                <a:srgbClr val="F1C232"/>
              </a:buClr>
              <a:buSzPts val="1400"/>
              <a:buFont typeface="Calibri"/>
              <a:buChar char="-"/>
            </a:pPr>
            <a:r>
              <a:rPr lang="en">
                <a:solidFill>
                  <a:srgbClr val="F1C232"/>
                </a:solidFill>
                <a:latin typeface="Calibri"/>
                <a:ea typeface="Calibri"/>
                <a:cs typeface="Calibri"/>
                <a:sym typeface="Calibri"/>
              </a:rPr>
              <a:t>Routing</a:t>
            </a:r>
            <a:endParaRPr>
              <a:solidFill>
                <a:srgbClr val="F1C23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371600" lvl="2" indent="-317500" algn="l" rtl="0">
              <a:spcBef>
                <a:spcPts val="0"/>
              </a:spcBef>
              <a:spcAft>
                <a:spcPts val="0"/>
              </a:spcAft>
              <a:buClr>
                <a:srgbClr val="F1C232"/>
              </a:buClr>
              <a:buSzPts val="1400"/>
              <a:buFont typeface="Calibri"/>
              <a:buChar char="-"/>
            </a:pPr>
            <a:r>
              <a:rPr lang="en">
                <a:solidFill>
                  <a:srgbClr val="F1C232"/>
                </a:solidFill>
                <a:latin typeface="Calibri"/>
                <a:ea typeface="Calibri"/>
                <a:cs typeface="Calibri"/>
                <a:sym typeface="Calibri"/>
              </a:rPr>
              <a:t>Request handling</a:t>
            </a:r>
            <a:endParaRPr>
              <a:solidFill>
                <a:srgbClr val="F1C23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371600" lvl="2" indent="-317500" algn="l" rtl="0">
              <a:spcBef>
                <a:spcPts val="0"/>
              </a:spcBef>
              <a:spcAft>
                <a:spcPts val="0"/>
              </a:spcAft>
              <a:buClr>
                <a:srgbClr val="F1C232"/>
              </a:buClr>
              <a:buSzPts val="1400"/>
              <a:buFont typeface="Calibri"/>
              <a:buChar char="-"/>
            </a:pPr>
            <a:r>
              <a:rPr lang="en">
                <a:solidFill>
                  <a:srgbClr val="F1C232"/>
                </a:solidFill>
                <a:latin typeface="Calibri"/>
                <a:ea typeface="Calibri"/>
                <a:cs typeface="Calibri"/>
                <a:sym typeface="Calibri"/>
              </a:rPr>
              <a:t>Template handling</a:t>
            </a:r>
            <a:endParaRPr>
              <a:solidFill>
                <a:srgbClr val="F1C23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F1C23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F1C23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F1C23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93" name="Google Shape;193;p3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852725" y="2894275"/>
            <a:ext cx="4153250" cy="1483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31"/>
          <p:cNvSpPr txBox="1"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</p:spPr>
        <p:txBody>
          <a:bodyPr spcFirstLastPara="1" wrap="square" lIns="68575" tIns="34275" rIns="68575" bIns="3427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9" name="Google Shape;199;p31"/>
          <p:cNvSpPr txBox="1"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700"/>
          </a:xfrm>
          <a:prstGeom prst="rect">
            <a:avLst/>
          </a:prstGeom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lvl="0" indent="0" algn="ctr" rtl="0">
              <a:spcBef>
                <a:spcPts val="80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0" name="Google Shape;200;p31"/>
          <p:cNvSpPr/>
          <p:nvPr/>
        </p:nvSpPr>
        <p:spPr>
          <a:xfrm>
            <a:off x="56775" y="0"/>
            <a:ext cx="9144000" cy="5143500"/>
          </a:xfrm>
          <a:prstGeom prst="rect">
            <a:avLst/>
          </a:prstGeom>
          <a:solidFill>
            <a:srgbClr val="3F3F3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Font typeface="Calibri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01" name="Google Shape;201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200774" cy="5175436"/>
          </a:xfrm>
          <a:prstGeom prst="rect">
            <a:avLst/>
          </a:prstGeom>
          <a:noFill/>
          <a:ln>
            <a:noFill/>
          </a:ln>
        </p:spPr>
      </p:pic>
      <p:pic>
        <p:nvPicPr>
          <p:cNvPr id="202" name="Google Shape;202;p3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072651" y="4746387"/>
            <a:ext cx="1001477" cy="287535"/>
          </a:xfrm>
          <a:prstGeom prst="rect">
            <a:avLst/>
          </a:prstGeom>
          <a:noFill/>
          <a:ln>
            <a:noFill/>
          </a:ln>
        </p:spPr>
      </p:pic>
      <p:sp>
        <p:nvSpPr>
          <p:cNvPr id="203" name="Google Shape;203;p31"/>
          <p:cNvSpPr txBox="1"/>
          <p:nvPr/>
        </p:nvSpPr>
        <p:spPr>
          <a:xfrm>
            <a:off x="577725" y="302125"/>
            <a:ext cx="6590700" cy="80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Font typeface="Calibri"/>
              <a:buNone/>
            </a:pPr>
            <a:r>
              <a:rPr lang="en" sz="4500" dirty="0">
                <a:solidFill>
                  <a:srgbClr val="F1C232"/>
                </a:solidFill>
                <a:latin typeface="Calibri"/>
                <a:ea typeface="Calibri"/>
                <a:cs typeface="Calibri"/>
                <a:sym typeface="Calibri"/>
              </a:rPr>
              <a:t>Why do we use Flask?</a:t>
            </a:r>
            <a:endParaRPr dirty="0">
              <a:solidFill>
                <a:srgbClr val="F1C23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04" name="Google Shape;204;p3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51500" y="4586100"/>
            <a:ext cx="512625" cy="512625"/>
          </a:xfrm>
          <a:prstGeom prst="rect">
            <a:avLst/>
          </a:prstGeom>
          <a:noFill/>
          <a:ln>
            <a:noFill/>
          </a:ln>
        </p:spPr>
      </p:pic>
      <p:sp>
        <p:nvSpPr>
          <p:cNvPr id="205" name="Google Shape;205;p31"/>
          <p:cNvSpPr txBox="1"/>
          <p:nvPr/>
        </p:nvSpPr>
        <p:spPr>
          <a:xfrm>
            <a:off x="577725" y="1234725"/>
            <a:ext cx="8171100" cy="32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Clr>
                <a:srgbClr val="F1C232"/>
              </a:buClr>
              <a:buSzPts val="1400"/>
              <a:buFont typeface="Calibri"/>
              <a:buAutoNum type="arabicPeriod"/>
            </a:pPr>
            <a:r>
              <a:rPr lang="en" dirty="0">
                <a:solidFill>
                  <a:srgbClr val="F1C232"/>
                </a:solidFill>
                <a:latin typeface="Calibri"/>
                <a:ea typeface="Calibri"/>
                <a:cs typeface="Calibri"/>
                <a:sym typeface="Calibri"/>
              </a:rPr>
              <a:t>We want to give you knowledge you can use later in life</a:t>
            </a:r>
            <a:endParaRPr dirty="0">
              <a:solidFill>
                <a:srgbClr val="F1C23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Clr>
                <a:srgbClr val="F1C232"/>
              </a:buClr>
              <a:buSzPts val="1400"/>
              <a:buFont typeface="Calibri"/>
              <a:buChar char="-"/>
            </a:pPr>
            <a:r>
              <a:rPr lang="en" dirty="0">
                <a:solidFill>
                  <a:srgbClr val="F1C232"/>
                </a:solidFill>
                <a:latin typeface="Calibri"/>
                <a:ea typeface="Calibri"/>
                <a:cs typeface="Calibri"/>
                <a:sym typeface="Calibri"/>
              </a:rPr>
              <a:t>Python is far more user-friendly for a business student than e.g. C#</a:t>
            </a:r>
            <a:endParaRPr dirty="0">
              <a:solidFill>
                <a:srgbClr val="F1C23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Clr>
                <a:srgbClr val="F1C232"/>
              </a:buClr>
              <a:buSzPts val="1400"/>
              <a:buFont typeface="Calibri"/>
              <a:buAutoNum type="arabicPeriod"/>
            </a:pPr>
            <a:r>
              <a:rPr lang="en" dirty="0">
                <a:solidFill>
                  <a:srgbClr val="F1C232"/>
                </a:solidFill>
                <a:latin typeface="Calibri"/>
                <a:ea typeface="Calibri"/>
                <a:cs typeface="Calibri"/>
                <a:sym typeface="Calibri"/>
              </a:rPr>
              <a:t>We build sites for NHHS</a:t>
            </a:r>
            <a:endParaRPr dirty="0">
              <a:solidFill>
                <a:srgbClr val="F1C23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Clr>
                <a:srgbClr val="F1C232"/>
              </a:buClr>
              <a:buSzPts val="1400"/>
              <a:buFont typeface="Calibri"/>
              <a:buChar char="-"/>
            </a:pPr>
            <a:r>
              <a:rPr lang="en" dirty="0">
                <a:solidFill>
                  <a:srgbClr val="F1C232"/>
                </a:solidFill>
                <a:latin typeface="Calibri"/>
                <a:ea typeface="Calibri"/>
                <a:cs typeface="Calibri"/>
                <a:sym typeface="Calibri"/>
              </a:rPr>
              <a:t>We have a limited amount of traffic</a:t>
            </a:r>
            <a:endParaRPr dirty="0">
              <a:solidFill>
                <a:srgbClr val="F1C23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Clr>
                <a:srgbClr val="F1C232"/>
              </a:buClr>
              <a:buSzPts val="1400"/>
              <a:buFont typeface="Calibri"/>
              <a:buChar char="-"/>
            </a:pPr>
            <a:r>
              <a:rPr lang="en" dirty="0">
                <a:solidFill>
                  <a:srgbClr val="F1C232"/>
                </a:solidFill>
                <a:latin typeface="Calibri"/>
                <a:ea typeface="Calibri"/>
                <a:cs typeface="Calibri"/>
                <a:sym typeface="Calibri"/>
              </a:rPr>
              <a:t>We have limited complexity to deal with</a:t>
            </a:r>
            <a:endParaRPr dirty="0">
              <a:solidFill>
                <a:srgbClr val="F1C23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Clr>
                <a:srgbClr val="F1C232"/>
              </a:buClr>
              <a:buSzPts val="1400"/>
              <a:buFont typeface="Calibri"/>
              <a:buChar char="-"/>
            </a:pPr>
            <a:r>
              <a:rPr lang="en" dirty="0">
                <a:solidFill>
                  <a:srgbClr val="F1C232"/>
                </a:solidFill>
                <a:latin typeface="Calibri"/>
                <a:ea typeface="Calibri"/>
                <a:cs typeface="Calibri"/>
                <a:sym typeface="Calibri"/>
              </a:rPr>
              <a:t>=&gt; Flask covers our needs</a:t>
            </a:r>
            <a:endParaRPr dirty="0">
              <a:solidFill>
                <a:srgbClr val="F1C23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Clr>
                <a:srgbClr val="F1C232"/>
              </a:buClr>
              <a:buSzPts val="1400"/>
              <a:buFont typeface="Calibri"/>
              <a:buAutoNum type="arabicPeriod"/>
            </a:pPr>
            <a:r>
              <a:rPr lang="en" dirty="0">
                <a:solidFill>
                  <a:srgbClr val="F1C232"/>
                </a:solidFill>
                <a:latin typeface="Calibri"/>
                <a:ea typeface="Calibri"/>
                <a:cs typeface="Calibri"/>
                <a:sym typeface="Calibri"/>
              </a:rPr>
              <a:t>Flask is very user-friendly</a:t>
            </a:r>
            <a:endParaRPr dirty="0">
              <a:solidFill>
                <a:srgbClr val="F1C23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Clr>
                <a:srgbClr val="F1C232"/>
              </a:buClr>
              <a:buSzPts val="1400"/>
              <a:buFont typeface="Calibri"/>
              <a:buAutoNum type="arabicPeriod"/>
            </a:pPr>
            <a:r>
              <a:rPr lang="en" dirty="0">
                <a:solidFill>
                  <a:srgbClr val="F1C232"/>
                </a:solidFill>
                <a:latin typeface="Calibri"/>
                <a:ea typeface="Calibri"/>
                <a:cs typeface="Calibri"/>
                <a:sym typeface="Calibri"/>
              </a:rPr>
              <a:t>There is a rich ecosystem around flask</a:t>
            </a:r>
            <a:endParaRPr dirty="0">
              <a:solidFill>
                <a:srgbClr val="F1C23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Clr>
                <a:srgbClr val="F1C232"/>
              </a:buClr>
              <a:buSzPts val="1400"/>
              <a:buFont typeface="Calibri"/>
              <a:buChar char="-"/>
            </a:pPr>
            <a:r>
              <a:rPr lang="en" dirty="0">
                <a:solidFill>
                  <a:srgbClr val="F1C232"/>
                </a:solidFill>
                <a:latin typeface="Calibri"/>
                <a:ea typeface="Calibri"/>
                <a:cs typeface="Calibri"/>
                <a:sym typeface="Calibri"/>
              </a:rPr>
              <a:t>People have built “packages” for everything flask is missing</a:t>
            </a:r>
            <a:endParaRPr dirty="0">
              <a:solidFill>
                <a:srgbClr val="F1C23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Clr>
                <a:srgbClr val="F1C232"/>
              </a:buClr>
              <a:buSzPts val="1400"/>
              <a:buFont typeface="Calibri"/>
              <a:buChar char="-"/>
            </a:pPr>
            <a:r>
              <a:rPr lang="en" dirty="0">
                <a:solidFill>
                  <a:srgbClr val="F1C232"/>
                </a:solidFill>
                <a:latin typeface="Calibri"/>
                <a:ea typeface="Calibri"/>
                <a:cs typeface="Calibri"/>
                <a:sym typeface="Calibri"/>
              </a:rPr>
              <a:t>=&gt; This makes flask fairly complete anyway</a:t>
            </a:r>
            <a:endParaRPr dirty="0">
              <a:solidFill>
                <a:srgbClr val="F1C23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solidFill>
                <a:srgbClr val="F1C23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rgbClr val="F1C232"/>
                </a:solidFill>
                <a:latin typeface="Calibri"/>
                <a:ea typeface="Calibri"/>
                <a:cs typeface="Calibri"/>
                <a:sym typeface="Calibri"/>
              </a:rPr>
              <a:t>In other words: no point using a sledgehammer to crack a nut</a:t>
            </a:r>
            <a:endParaRPr dirty="0">
              <a:solidFill>
                <a:srgbClr val="F1C23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solidFill>
                <a:srgbClr val="F1C23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solidFill>
                <a:srgbClr val="F1C23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06" name="Google Shape;206;p31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223400" y="1234723"/>
            <a:ext cx="2069825" cy="2924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32"/>
          <p:cNvSpPr txBox="1"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</p:spPr>
        <p:txBody>
          <a:bodyPr spcFirstLastPara="1" wrap="square" lIns="68575" tIns="34275" rIns="68575" bIns="3427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2" name="Google Shape;212;p32"/>
          <p:cNvSpPr txBox="1"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700"/>
          </a:xfrm>
          <a:prstGeom prst="rect">
            <a:avLst/>
          </a:prstGeom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lvl="0" indent="0" algn="ctr" rtl="0">
              <a:spcBef>
                <a:spcPts val="80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3" name="Google Shape;213;p32"/>
          <p:cNvSpPr/>
          <p:nvPr/>
        </p:nvSpPr>
        <p:spPr>
          <a:xfrm>
            <a:off x="56775" y="0"/>
            <a:ext cx="9144000" cy="5143500"/>
          </a:xfrm>
          <a:prstGeom prst="rect">
            <a:avLst/>
          </a:prstGeom>
          <a:solidFill>
            <a:srgbClr val="3F3F3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Font typeface="Calibri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14" name="Google Shape;214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200774" cy="5175436"/>
          </a:xfrm>
          <a:prstGeom prst="rect">
            <a:avLst/>
          </a:prstGeom>
          <a:noFill/>
          <a:ln>
            <a:noFill/>
          </a:ln>
        </p:spPr>
      </p:pic>
      <p:pic>
        <p:nvPicPr>
          <p:cNvPr id="215" name="Google Shape;215;p3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072651" y="4746387"/>
            <a:ext cx="1001477" cy="287535"/>
          </a:xfrm>
          <a:prstGeom prst="rect">
            <a:avLst/>
          </a:prstGeom>
          <a:noFill/>
          <a:ln>
            <a:noFill/>
          </a:ln>
        </p:spPr>
      </p:pic>
      <p:sp>
        <p:nvSpPr>
          <p:cNvPr id="216" name="Google Shape;216;p32"/>
          <p:cNvSpPr txBox="1"/>
          <p:nvPr/>
        </p:nvSpPr>
        <p:spPr>
          <a:xfrm>
            <a:off x="577725" y="302125"/>
            <a:ext cx="6590700" cy="80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Font typeface="Calibri"/>
              <a:buNone/>
            </a:pPr>
            <a:r>
              <a:rPr lang="en" sz="4500" dirty="0">
                <a:solidFill>
                  <a:srgbClr val="F1C232"/>
                </a:solidFill>
                <a:latin typeface="Calibri"/>
                <a:ea typeface="Calibri"/>
                <a:cs typeface="Calibri"/>
                <a:sym typeface="Calibri"/>
              </a:rPr>
              <a:t>Simple Flask application</a:t>
            </a:r>
            <a:endParaRPr dirty="0">
              <a:solidFill>
                <a:srgbClr val="F1C23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17" name="Google Shape;217;p3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51500" y="4586100"/>
            <a:ext cx="512625" cy="512625"/>
          </a:xfrm>
          <a:prstGeom prst="rect">
            <a:avLst/>
          </a:prstGeom>
          <a:noFill/>
          <a:ln>
            <a:noFill/>
          </a:ln>
        </p:spPr>
      </p:pic>
      <p:sp>
        <p:nvSpPr>
          <p:cNvPr id="218" name="Google Shape;218;p32"/>
          <p:cNvSpPr txBox="1"/>
          <p:nvPr/>
        </p:nvSpPr>
        <p:spPr>
          <a:xfrm>
            <a:off x="577725" y="1234725"/>
            <a:ext cx="8171100" cy="367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50">
                <a:solidFill>
                  <a:srgbClr val="C586C0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from</a:t>
            </a:r>
            <a:r>
              <a:rPr lang="en" sz="105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50">
                <a:solidFill>
                  <a:srgbClr val="4EC9B0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flask</a:t>
            </a:r>
            <a:r>
              <a:rPr lang="en" sz="105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50">
                <a:solidFill>
                  <a:srgbClr val="C586C0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import</a:t>
            </a:r>
            <a:r>
              <a:rPr lang="en" sz="105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50">
                <a:solidFill>
                  <a:srgbClr val="4EC9B0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Flask</a:t>
            </a:r>
            <a:r>
              <a:rPr lang="en" sz="105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en" sz="1050">
                <a:solidFill>
                  <a:srgbClr val="DCDCAA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render_template</a:t>
            </a:r>
            <a:r>
              <a:rPr lang="en" sz="105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en" sz="1050">
                <a:solidFill>
                  <a:srgbClr val="9CDCFE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request</a:t>
            </a:r>
            <a:endParaRPr sz="1050">
              <a:solidFill>
                <a:srgbClr val="9CDCFE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05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50">
                <a:solidFill>
                  <a:srgbClr val="6A9955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# Define the Flask application</a:t>
            </a:r>
            <a:endParaRPr sz="1050">
              <a:solidFill>
                <a:srgbClr val="6A9955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50">
                <a:solidFill>
                  <a:srgbClr val="9CDCFE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app</a:t>
            </a:r>
            <a:r>
              <a:rPr lang="en" sz="105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= </a:t>
            </a:r>
            <a:r>
              <a:rPr lang="en" sz="1050">
                <a:solidFill>
                  <a:srgbClr val="4EC9B0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Flask</a:t>
            </a:r>
            <a:r>
              <a:rPr lang="en" sz="105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" sz="1050">
                <a:solidFill>
                  <a:srgbClr val="9CDCFE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__name__</a:t>
            </a:r>
            <a:r>
              <a:rPr lang="en" sz="105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sz="105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05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50">
                <a:solidFill>
                  <a:srgbClr val="6A9955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# Define the home route</a:t>
            </a:r>
            <a:endParaRPr sz="1050">
              <a:solidFill>
                <a:srgbClr val="6A9955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50">
                <a:solidFill>
                  <a:srgbClr val="DCDCAA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@</a:t>
            </a:r>
            <a:r>
              <a:rPr lang="en" sz="1050">
                <a:solidFill>
                  <a:srgbClr val="9CDCFE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app</a:t>
            </a:r>
            <a:r>
              <a:rPr lang="en" sz="1050">
                <a:solidFill>
                  <a:srgbClr val="DCDCAA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.route</a:t>
            </a:r>
            <a:r>
              <a:rPr lang="en" sz="105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" sz="1050">
                <a:solidFill>
                  <a:srgbClr val="CE9178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'/'</a:t>
            </a:r>
            <a:r>
              <a:rPr lang="en" sz="105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sz="105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50">
                <a:solidFill>
                  <a:srgbClr val="569CD6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def</a:t>
            </a:r>
            <a:r>
              <a:rPr lang="en" sz="105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50">
                <a:solidFill>
                  <a:srgbClr val="DCDCAA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home</a:t>
            </a:r>
            <a:r>
              <a:rPr lang="en" sz="105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():</a:t>
            </a:r>
            <a:endParaRPr sz="105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5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en" sz="1050">
                <a:solidFill>
                  <a:srgbClr val="C586C0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return</a:t>
            </a:r>
            <a:r>
              <a:rPr lang="en" sz="105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50">
                <a:solidFill>
                  <a:srgbClr val="DCDCAA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render_template</a:t>
            </a:r>
            <a:r>
              <a:rPr lang="en" sz="105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" sz="1050">
                <a:solidFill>
                  <a:srgbClr val="CE9178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'index.html'</a:t>
            </a:r>
            <a:r>
              <a:rPr lang="en" sz="105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sz="105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05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50">
                <a:solidFill>
                  <a:srgbClr val="C586C0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if</a:t>
            </a:r>
            <a:r>
              <a:rPr lang="en" sz="105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50">
                <a:solidFill>
                  <a:srgbClr val="9CDCFE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__name__</a:t>
            </a:r>
            <a:r>
              <a:rPr lang="en" sz="105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== </a:t>
            </a:r>
            <a:r>
              <a:rPr lang="en" sz="1050">
                <a:solidFill>
                  <a:srgbClr val="CE9178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'__main__'</a:t>
            </a:r>
            <a:r>
              <a:rPr lang="en" sz="105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:</a:t>
            </a:r>
            <a:endParaRPr sz="105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5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en" sz="1050">
                <a:solidFill>
                  <a:srgbClr val="9CDCFE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app</a:t>
            </a:r>
            <a:r>
              <a:rPr lang="en" sz="105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en" sz="1050">
                <a:solidFill>
                  <a:srgbClr val="DCDCAA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run</a:t>
            </a:r>
            <a:r>
              <a:rPr lang="en" sz="105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" sz="1050">
                <a:solidFill>
                  <a:srgbClr val="9CDCFE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debug</a:t>
            </a:r>
            <a:r>
              <a:rPr lang="en" sz="105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en" sz="1050">
                <a:solidFill>
                  <a:srgbClr val="4FC1FF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True</a:t>
            </a:r>
            <a:r>
              <a:rPr lang="en" sz="105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sz="105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F1C23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F1C23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F1C23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F1C23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33"/>
          <p:cNvSpPr txBox="1"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</p:spPr>
        <p:txBody>
          <a:bodyPr spcFirstLastPara="1" wrap="square" lIns="68575" tIns="34275" rIns="68575" bIns="3427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4" name="Google Shape;224;p33"/>
          <p:cNvSpPr txBox="1"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700"/>
          </a:xfrm>
          <a:prstGeom prst="rect">
            <a:avLst/>
          </a:prstGeom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lvl="0" indent="0" algn="ctr" rtl="0">
              <a:spcBef>
                <a:spcPts val="80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5" name="Google Shape;225;p33"/>
          <p:cNvSpPr/>
          <p:nvPr/>
        </p:nvSpPr>
        <p:spPr>
          <a:xfrm>
            <a:off x="56775" y="0"/>
            <a:ext cx="9144000" cy="5143500"/>
          </a:xfrm>
          <a:prstGeom prst="rect">
            <a:avLst/>
          </a:prstGeom>
          <a:solidFill>
            <a:srgbClr val="3F3F3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Font typeface="Calibri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26" name="Google Shape;226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200774" cy="5175436"/>
          </a:xfrm>
          <a:prstGeom prst="rect">
            <a:avLst/>
          </a:prstGeom>
          <a:noFill/>
          <a:ln>
            <a:noFill/>
          </a:ln>
        </p:spPr>
      </p:pic>
      <p:pic>
        <p:nvPicPr>
          <p:cNvPr id="227" name="Google Shape;227;p3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072651" y="4746387"/>
            <a:ext cx="1001477" cy="287535"/>
          </a:xfrm>
          <a:prstGeom prst="rect">
            <a:avLst/>
          </a:prstGeom>
          <a:noFill/>
          <a:ln>
            <a:noFill/>
          </a:ln>
        </p:spPr>
      </p:pic>
      <p:sp>
        <p:nvSpPr>
          <p:cNvPr id="228" name="Google Shape;228;p33"/>
          <p:cNvSpPr txBox="1"/>
          <p:nvPr/>
        </p:nvSpPr>
        <p:spPr>
          <a:xfrm>
            <a:off x="577725" y="302125"/>
            <a:ext cx="8001300" cy="80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Font typeface="Calibri"/>
              <a:buNone/>
            </a:pPr>
            <a:r>
              <a:rPr lang="en" sz="4500" dirty="0">
                <a:solidFill>
                  <a:srgbClr val="F1C232"/>
                </a:solidFill>
                <a:latin typeface="Calibri"/>
                <a:ea typeface="Calibri"/>
                <a:cs typeface="Calibri"/>
                <a:sym typeface="Calibri"/>
              </a:rPr>
              <a:t>How to run/start a Flask app</a:t>
            </a:r>
            <a:endParaRPr dirty="0">
              <a:solidFill>
                <a:srgbClr val="F1C23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29" name="Google Shape;229;p3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51500" y="4586100"/>
            <a:ext cx="512625" cy="512625"/>
          </a:xfrm>
          <a:prstGeom prst="rect">
            <a:avLst/>
          </a:prstGeom>
          <a:noFill/>
          <a:ln>
            <a:noFill/>
          </a:ln>
        </p:spPr>
      </p:pic>
      <p:sp>
        <p:nvSpPr>
          <p:cNvPr id="230" name="Google Shape;230;p33"/>
          <p:cNvSpPr txBox="1"/>
          <p:nvPr/>
        </p:nvSpPr>
        <p:spPr>
          <a:xfrm>
            <a:off x="577725" y="1234725"/>
            <a:ext cx="8171100" cy="233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Clr>
                <a:srgbClr val="F1C232"/>
              </a:buClr>
              <a:buSzPts val="1400"/>
              <a:buFont typeface="Calibri"/>
              <a:buChar char="-"/>
            </a:pPr>
            <a:r>
              <a:rPr lang="en">
                <a:solidFill>
                  <a:srgbClr val="F1C232"/>
                </a:solidFill>
                <a:latin typeface="Calibri"/>
                <a:ea typeface="Calibri"/>
                <a:cs typeface="Calibri"/>
                <a:sym typeface="Calibri"/>
              </a:rPr>
              <a:t>Your terminal path has to be in the same place as app.py</a:t>
            </a:r>
            <a:endParaRPr>
              <a:solidFill>
                <a:srgbClr val="F1C23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Clr>
                <a:srgbClr val="F1C232"/>
              </a:buClr>
              <a:buSzPts val="1400"/>
              <a:buFont typeface="Calibri"/>
              <a:buChar char="-"/>
            </a:pPr>
            <a:r>
              <a:rPr lang="en">
                <a:solidFill>
                  <a:srgbClr val="F1C232"/>
                </a:solidFill>
                <a:latin typeface="Calibri"/>
                <a:ea typeface="Calibri"/>
                <a:cs typeface="Calibri"/>
                <a:sym typeface="Calibri"/>
              </a:rPr>
              <a:t>That usually means you have to type “cd app” first</a:t>
            </a:r>
            <a:endParaRPr>
              <a:solidFill>
                <a:srgbClr val="F1C23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371600" lvl="2" indent="-317500" algn="l" rtl="0">
              <a:spcBef>
                <a:spcPts val="0"/>
              </a:spcBef>
              <a:spcAft>
                <a:spcPts val="0"/>
              </a:spcAft>
              <a:buClr>
                <a:srgbClr val="F1C232"/>
              </a:buClr>
              <a:buSzPts val="1400"/>
              <a:buFont typeface="Calibri"/>
              <a:buChar char="-"/>
            </a:pPr>
            <a:r>
              <a:rPr lang="en">
                <a:solidFill>
                  <a:srgbClr val="F1C232"/>
                </a:solidFill>
                <a:latin typeface="Calibri"/>
                <a:ea typeface="Calibri"/>
                <a:cs typeface="Calibri"/>
                <a:sym typeface="Calibri"/>
              </a:rPr>
              <a:t>This means “change directory to app”</a:t>
            </a:r>
            <a:endParaRPr>
              <a:solidFill>
                <a:srgbClr val="F1C23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Clr>
                <a:srgbClr val="F1C232"/>
              </a:buClr>
              <a:buSzPts val="1400"/>
              <a:buFont typeface="Calibri"/>
              <a:buChar char="-"/>
            </a:pPr>
            <a:r>
              <a:rPr lang="en">
                <a:solidFill>
                  <a:srgbClr val="F1C232"/>
                </a:solidFill>
                <a:latin typeface="Calibri"/>
                <a:ea typeface="Calibri"/>
                <a:cs typeface="Calibri"/>
                <a:sym typeface="Calibri"/>
              </a:rPr>
              <a:t>Mac:</a:t>
            </a:r>
            <a:endParaRPr>
              <a:solidFill>
                <a:srgbClr val="F1C23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Clr>
                <a:srgbClr val="F1C232"/>
              </a:buClr>
              <a:buSzPts val="1400"/>
              <a:buFont typeface="Calibri"/>
              <a:buChar char="-"/>
            </a:pPr>
            <a:r>
              <a:rPr lang="en">
                <a:solidFill>
                  <a:srgbClr val="F1C232"/>
                </a:solidFill>
                <a:latin typeface="Calibri"/>
                <a:ea typeface="Calibri"/>
                <a:cs typeface="Calibri"/>
                <a:sym typeface="Calibri"/>
              </a:rPr>
              <a:t>Python3 app.py</a:t>
            </a:r>
            <a:endParaRPr>
              <a:solidFill>
                <a:srgbClr val="F1C23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Clr>
                <a:srgbClr val="F1C232"/>
              </a:buClr>
              <a:buSzPts val="1400"/>
              <a:buFont typeface="Calibri"/>
              <a:buChar char="-"/>
            </a:pPr>
            <a:r>
              <a:rPr lang="en">
                <a:solidFill>
                  <a:srgbClr val="F1C232"/>
                </a:solidFill>
                <a:latin typeface="Calibri"/>
                <a:ea typeface="Calibri"/>
                <a:cs typeface="Calibri"/>
                <a:sym typeface="Calibri"/>
              </a:rPr>
              <a:t>Windows:</a:t>
            </a:r>
            <a:endParaRPr>
              <a:solidFill>
                <a:srgbClr val="F1C23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Clr>
                <a:srgbClr val="F1C232"/>
              </a:buClr>
              <a:buSzPts val="1400"/>
              <a:buFont typeface="Calibri"/>
              <a:buChar char="-"/>
            </a:pPr>
            <a:r>
              <a:rPr lang="en">
                <a:solidFill>
                  <a:srgbClr val="F1C232"/>
                </a:solidFill>
                <a:latin typeface="Calibri"/>
                <a:ea typeface="Calibri"/>
                <a:cs typeface="Calibri"/>
                <a:sym typeface="Calibri"/>
              </a:rPr>
              <a:t>Py app.py</a:t>
            </a:r>
            <a:endParaRPr>
              <a:solidFill>
                <a:srgbClr val="F1C23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F1C23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F1C23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F1C23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31" name="Google Shape;231;p33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8388" y="2965282"/>
            <a:ext cx="9144001" cy="158528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34"/>
          <p:cNvSpPr txBox="1"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</p:spPr>
        <p:txBody>
          <a:bodyPr spcFirstLastPara="1" wrap="square" lIns="68575" tIns="34275" rIns="68575" bIns="3427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7" name="Google Shape;237;p34"/>
          <p:cNvSpPr txBox="1"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700"/>
          </a:xfrm>
          <a:prstGeom prst="rect">
            <a:avLst/>
          </a:prstGeom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lvl="0" indent="0" algn="ctr" rtl="0">
              <a:spcBef>
                <a:spcPts val="80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8" name="Google Shape;238;p34"/>
          <p:cNvSpPr/>
          <p:nvPr/>
        </p:nvSpPr>
        <p:spPr>
          <a:xfrm>
            <a:off x="56775" y="0"/>
            <a:ext cx="9144000" cy="5143500"/>
          </a:xfrm>
          <a:prstGeom prst="rect">
            <a:avLst/>
          </a:prstGeom>
          <a:solidFill>
            <a:srgbClr val="3F3F3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Font typeface="Calibri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39" name="Google Shape;239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200774" cy="5175436"/>
          </a:xfrm>
          <a:prstGeom prst="rect">
            <a:avLst/>
          </a:prstGeom>
          <a:noFill/>
          <a:ln>
            <a:noFill/>
          </a:ln>
        </p:spPr>
      </p:pic>
      <p:pic>
        <p:nvPicPr>
          <p:cNvPr id="240" name="Google Shape;240;p3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072651" y="4746387"/>
            <a:ext cx="1001477" cy="287535"/>
          </a:xfrm>
          <a:prstGeom prst="rect">
            <a:avLst/>
          </a:prstGeom>
          <a:noFill/>
          <a:ln>
            <a:noFill/>
          </a:ln>
        </p:spPr>
      </p:pic>
      <p:sp>
        <p:nvSpPr>
          <p:cNvPr id="241" name="Google Shape;241;p34"/>
          <p:cNvSpPr txBox="1"/>
          <p:nvPr/>
        </p:nvSpPr>
        <p:spPr>
          <a:xfrm>
            <a:off x="577725" y="302125"/>
            <a:ext cx="6590700" cy="80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Font typeface="Calibri"/>
              <a:buNone/>
            </a:pPr>
            <a:r>
              <a:rPr lang="en" sz="4500" dirty="0">
                <a:solidFill>
                  <a:srgbClr val="F1C232"/>
                </a:solidFill>
                <a:latin typeface="Calibri"/>
                <a:ea typeface="Calibri"/>
                <a:cs typeface="Calibri"/>
                <a:sym typeface="Calibri"/>
              </a:rPr>
              <a:t>Routing in Flask</a:t>
            </a:r>
            <a:endParaRPr dirty="0">
              <a:solidFill>
                <a:srgbClr val="F1C23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42" name="Google Shape;242;p3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51500" y="4586100"/>
            <a:ext cx="512625" cy="512625"/>
          </a:xfrm>
          <a:prstGeom prst="rect">
            <a:avLst/>
          </a:prstGeom>
          <a:noFill/>
          <a:ln>
            <a:noFill/>
          </a:ln>
        </p:spPr>
      </p:pic>
      <p:sp>
        <p:nvSpPr>
          <p:cNvPr id="243" name="Google Shape;243;p34"/>
          <p:cNvSpPr txBox="1"/>
          <p:nvPr/>
        </p:nvSpPr>
        <p:spPr>
          <a:xfrm>
            <a:off x="577725" y="1234725"/>
            <a:ext cx="8171100" cy="126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Clr>
                <a:srgbClr val="F1C232"/>
              </a:buClr>
              <a:buSzPts val="1400"/>
              <a:buFont typeface="Calibri"/>
              <a:buChar char="-"/>
            </a:pPr>
            <a:r>
              <a:rPr lang="en">
                <a:solidFill>
                  <a:srgbClr val="F1C232"/>
                </a:solidFill>
                <a:latin typeface="Calibri"/>
                <a:ea typeface="Calibri"/>
                <a:cs typeface="Calibri"/>
                <a:sym typeface="Calibri"/>
              </a:rPr>
              <a:t>Routing is a method for connecting a url (what you type into the browser) to a function in Python</a:t>
            </a:r>
            <a:endParaRPr>
              <a:solidFill>
                <a:srgbClr val="F1C23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Clr>
                <a:srgbClr val="F1C232"/>
              </a:buClr>
              <a:buSzPts val="1400"/>
              <a:buFont typeface="Calibri"/>
              <a:buChar char="-"/>
            </a:pPr>
            <a:r>
              <a:rPr lang="en">
                <a:solidFill>
                  <a:srgbClr val="F1C232"/>
                </a:solidFill>
                <a:latin typeface="Calibri"/>
                <a:ea typeface="Calibri"/>
                <a:cs typeface="Calibri"/>
                <a:sym typeface="Calibri"/>
              </a:rPr>
              <a:t>Each page (url) then has its own function in Python that returns a template</a:t>
            </a:r>
            <a:endParaRPr>
              <a:solidFill>
                <a:srgbClr val="F1C23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F1C23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F1C23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F1C23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34"/>
          <p:cNvSpPr txBox="1"/>
          <p:nvPr/>
        </p:nvSpPr>
        <p:spPr>
          <a:xfrm>
            <a:off x="5193325" y="2496825"/>
            <a:ext cx="3745200" cy="100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6A9955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# Define the home route</a:t>
            </a:r>
            <a:endParaRPr sz="1050">
              <a:solidFill>
                <a:srgbClr val="6A9955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DCDCAA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@</a:t>
            </a:r>
            <a:r>
              <a:rPr lang="en" sz="1050">
                <a:solidFill>
                  <a:srgbClr val="9CDCFE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app</a:t>
            </a:r>
            <a:r>
              <a:rPr lang="en" sz="1050">
                <a:solidFill>
                  <a:srgbClr val="DCDCAA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.route</a:t>
            </a:r>
            <a:r>
              <a:rPr lang="en" sz="105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" sz="1050">
                <a:solidFill>
                  <a:srgbClr val="CE9178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'/'</a:t>
            </a:r>
            <a:r>
              <a:rPr lang="en" sz="105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sz="105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569CD6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def</a:t>
            </a:r>
            <a:r>
              <a:rPr lang="en" sz="105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50">
                <a:solidFill>
                  <a:srgbClr val="DCDCAA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home</a:t>
            </a:r>
            <a:r>
              <a:rPr lang="en" sz="105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():</a:t>
            </a:r>
            <a:endParaRPr sz="105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en" sz="1050">
                <a:solidFill>
                  <a:srgbClr val="C586C0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return</a:t>
            </a:r>
            <a:r>
              <a:rPr lang="en" sz="105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50">
                <a:solidFill>
                  <a:srgbClr val="DCDCAA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render_template</a:t>
            </a:r>
            <a:r>
              <a:rPr lang="en" sz="105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" sz="1050">
                <a:solidFill>
                  <a:srgbClr val="CE9178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'index.html'</a:t>
            </a:r>
            <a:r>
              <a:rPr lang="en" sz="105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sz="105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  <p:pic>
        <p:nvPicPr>
          <p:cNvPr id="245" name="Google Shape;245;p34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143000" y="2522775"/>
            <a:ext cx="2171700" cy="952500"/>
          </a:xfrm>
          <a:prstGeom prst="rect">
            <a:avLst/>
          </a:prstGeom>
          <a:noFill/>
          <a:ln>
            <a:noFill/>
          </a:ln>
        </p:spPr>
      </p:pic>
      <p:sp>
        <p:nvSpPr>
          <p:cNvPr id="246" name="Google Shape;246;p34"/>
          <p:cNvSpPr/>
          <p:nvPr/>
        </p:nvSpPr>
        <p:spPr>
          <a:xfrm>
            <a:off x="3664450" y="2902450"/>
            <a:ext cx="1292700" cy="24840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35"/>
          <p:cNvSpPr txBox="1"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</p:spPr>
        <p:txBody>
          <a:bodyPr spcFirstLastPara="1" wrap="square" lIns="68575" tIns="34275" rIns="68575" bIns="3427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2" name="Google Shape;252;p35"/>
          <p:cNvSpPr txBox="1"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700"/>
          </a:xfrm>
          <a:prstGeom prst="rect">
            <a:avLst/>
          </a:prstGeom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lvl="0" indent="0" algn="ctr" rtl="0">
              <a:spcBef>
                <a:spcPts val="80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3" name="Google Shape;253;p35"/>
          <p:cNvSpPr/>
          <p:nvPr/>
        </p:nvSpPr>
        <p:spPr>
          <a:xfrm>
            <a:off x="56775" y="0"/>
            <a:ext cx="9144000" cy="5143500"/>
          </a:xfrm>
          <a:prstGeom prst="rect">
            <a:avLst/>
          </a:prstGeom>
          <a:solidFill>
            <a:srgbClr val="3F3F3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Font typeface="Calibri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54" name="Google Shape;254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200774" cy="5175436"/>
          </a:xfrm>
          <a:prstGeom prst="rect">
            <a:avLst/>
          </a:prstGeom>
          <a:noFill/>
          <a:ln>
            <a:noFill/>
          </a:ln>
        </p:spPr>
      </p:pic>
      <p:pic>
        <p:nvPicPr>
          <p:cNvPr id="255" name="Google Shape;255;p3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072651" y="4746387"/>
            <a:ext cx="1001477" cy="287535"/>
          </a:xfrm>
          <a:prstGeom prst="rect">
            <a:avLst/>
          </a:prstGeom>
          <a:noFill/>
          <a:ln>
            <a:noFill/>
          </a:ln>
        </p:spPr>
      </p:pic>
      <p:sp>
        <p:nvSpPr>
          <p:cNvPr id="256" name="Google Shape;256;p35"/>
          <p:cNvSpPr txBox="1"/>
          <p:nvPr/>
        </p:nvSpPr>
        <p:spPr>
          <a:xfrm>
            <a:off x="577725" y="302125"/>
            <a:ext cx="6590700" cy="80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Font typeface="Calibri"/>
              <a:buNone/>
            </a:pPr>
            <a:r>
              <a:rPr lang="en" sz="4500" dirty="0">
                <a:solidFill>
                  <a:srgbClr val="F1C232"/>
                </a:solidFill>
                <a:latin typeface="Calibri"/>
                <a:ea typeface="Calibri"/>
                <a:cs typeface="Calibri"/>
                <a:sym typeface="Calibri"/>
              </a:rPr>
              <a:t>Routing in Flask</a:t>
            </a:r>
            <a:endParaRPr dirty="0">
              <a:solidFill>
                <a:srgbClr val="F1C23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57" name="Google Shape;257;p3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51500" y="4586100"/>
            <a:ext cx="512625" cy="512625"/>
          </a:xfrm>
          <a:prstGeom prst="rect">
            <a:avLst/>
          </a:prstGeom>
          <a:noFill/>
          <a:ln>
            <a:noFill/>
          </a:ln>
        </p:spPr>
      </p:pic>
      <p:sp>
        <p:nvSpPr>
          <p:cNvPr id="258" name="Google Shape;258;p35"/>
          <p:cNvSpPr txBox="1"/>
          <p:nvPr/>
        </p:nvSpPr>
        <p:spPr>
          <a:xfrm>
            <a:off x="577725" y="1234725"/>
            <a:ext cx="8171100" cy="233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Clr>
                <a:srgbClr val="F1C232"/>
              </a:buClr>
              <a:buSzPts val="1400"/>
              <a:buFont typeface="Calibri"/>
              <a:buChar char="-"/>
            </a:pPr>
            <a:r>
              <a:rPr lang="en">
                <a:solidFill>
                  <a:srgbClr val="F1C232"/>
                </a:solidFill>
                <a:latin typeface="Calibri"/>
                <a:ea typeface="Calibri"/>
                <a:cs typeface="Calibri"/>
                <a:sym typeface="Calibri"/>
              </a:rPr>
              <a:t>You can have variables in a route</a:t>
            </a:r>
            <a:endParaRPr>
              <a:solidFill>
                <a:srgbClr val="F1C23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Clr>
                <a:srgbClr val="F1C232"/>
              </a:buClr>
              <a:buSzPts val="1400"/>
              <a:buFont typeface="Calibri"/>
              <a:buChar char="-"/>
            </a:pPr>
            <a:r>
              <a:rPr lang="en">
                <a:solidFill>
                  <a:srgbClr val="F1C232"/>
                </a:solidFill>
                <a:latin typeface="Calibri"/>
                <a:ea typeface="Calibri"/>
                <a:cs typeface="Calibri"/>
                <a:sym typeface="Calibri"/>
              </a:rPr>
              <a:t>This saves you from writing endless routes for the same type of page</a:t>
            </a:r>
            <a:endParaRPr>
              <a:solidFill>
                <a:srgbClr val="F1C23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Clr>
                <a:srgbClr val="F1C232"/>
              </a:buClr>
              <a:buSzPts val="1400"/>
              <a:buFont typeface="Calibri"/>
              <a:buChar char="-"/>
            </a:pPr>
            <a:r>
              <a:rPr lang="en">
                <a:solidFill>
                  <a:srgbClr val="F1C232"/>
                </a:solidFill>
                <a:latin typeface="Calibri"/>
                <a:ea typeface="Calibri"/>
                <a:cs typeface="Calibri"/>
                <a:sym typeface="Calibri"/>
              </a:rPr>
              <a:t>Think: every news article on vg.no has the same layout</a:t>
            </a:r>
            <a:endParaRPr>
              <a:solidFill>
                <a:srgbClr val="F1C23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371600" lvl="2" indent="-317500" algn="l" rtl="0">
              <a:spcBef>
                <a:spcPts val="0"/>
              </a:spcBef>
              <a:spcAft>
                <a:spcPts val="0"/>
              </a:spcAft>
              <a:buClr>
                <a:srgbClr val="F1C232"/>
              </a:buClr>
              <a:buSzPts val="1400"/>
              <a:buFont typeface="Calibri"/>
              <a:buChar char="-"/>
            </a:pPr>
            <a:r>
              <a:rPr lang="en">
                <a:solidFill>
                  <a:srgbClr val="F1C232"/>
                </a:solidFill>
                <a:latin typeface="Calibri"/>
                <a:ea typeface="Calibri"/>
                <a:cs typeface="Calibri"/>
                <a:sym typeface="Calibri"/>
              </a:rPr>
              <a:t>Headline</a:t>
            </a:r>
            <a:endParaRPr>
              <a:solidFill>
                <a:srgbClr val="F1C23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371600" lvl="2" indent="-317500" algn="l" rtl="0">
              <a:spcBef>
                <a:spcPts val="0"/>
              </a:spcBef>
              <a:spcAft>
                <a:spcPts val="0"/>
              </a:spcAft>
              <a:buClr>
                <a:srgbClr val="F1C232"/>
              </a:buClr>
              <a:buSzPts val="1400"/>
              <a:buFont typeface="Calibri"/>
              <a:buChar char="-"/>
            </a:pPr>
            <a:r>
              <a:rPr lang="en">
                <a:solidFill>
                  <a:srgbClr val="F1C232"/>
                </a:solidFill>
                <a:latin typeface="Calibri"/>
                <a:ea typeface="Calibri"/>
                <a:cs typeface="Calibri"/>
                <a:sym typeface="Calibri"/>
              </a:rPr>
              <a:t>Image</a:t>
            </a:r>
            <a:endParaRPr>
              <a:solidFill>
                <a:srgbClr val="F1C23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371600" lvl="2" indent="-317500" algn="l" rtl="0">
              <a:spcBef>
                <a:spcPts val="0"/>
              </a:spcBef>
              <a:spcAft>
                <a:spcPts val="0"/>
              </a:spcAft>
              <a:buClr>
                <a:srgbClr val="F1C232"/>
              </a:buClr>
              <a:buSzPts val="1400"/>
              <a:buFont typeface="Calibri"/>
              <a:buChar char="-"/>
            </a:pPr>
            <a:r>
              <a:rPr lang="en">
                <a:solidFill>
                  <a:srgbClr val="F1C232"/>
                </a:solidFill>
                <a:latin typeface="Calibri"/>
                <a:ea typeface="Calibri"/>
                <a:cs typeface="Calibri"/>
                <a:sym typeface="Calibri"/>
              </a:rPr>
              <a:t>Date and author</a:t>
            </a:r>
            <a:endParaRPr>
              <a:solidFill>
                <a:srgbClr val="F1C23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371600" lvl="2" indent="-317500" algn="l" rtl="0">
              <a:spcBef>
                <a:spcPts val="0"/>
              </a:spcBef>
              <a:spcAft>
                <a:spcPts val="0"/>
              </a:spcAft>
              <a:buClr>
                <a:srgbClr val="F1C232"/>
              </a:buClr>
              <a:buSzPts val="1400"/>
              <a:buFont typeface="Calibri"/>
              <a:buChar char="-"/>
            </a:pPr>
            <a:r>
              <a:rPr lang="en">
                <a:solidFill>
                  <a:srgbClr val="F1C232"/>
                </a:solidFill>
                <a:latin typeface="Calibri"/>
                <a:ea typeface="Calibri"/>
                <a:cs typeface="Calibri"/>
                <a:sym typeface="Calibri"/>
              </a:rPr>
              <a:t>The article itself</a:t>
            </a:r>
            <a:endParaRPr>
              <a:solidFill>
                <a:srgbClr val="F1C23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F1C23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F1C23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F1C23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35"/>
          <p:cNvSpPr/>
          <p:nvPr/>
        </p:nvSpPr>
        <p:spPr>
          <a:xfrm>
            <a:off x="3655900" y="3765250"/>
            <a:ext cx="1068600" cy="28740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60" name="Google Shape;260;p3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6763" y="3503688"/>
            <a:ext cx="3419475" cy="771525"/>
          </a:xfrm>
          <a:prstGeom prst="rect">
            <a:avLst/>
          </a:prstGeom>
          <a:noFill/>
          <a:ln>
            <a:noFill/>
          </a:ln>
        </p:spPr>
      </p:pic>
      <p:sp>
        <p:nvSpPr>
          <p:cNvPr id="261" name="Google Shape;261;p35"/>
          <p:cNvSpPr txBox="1"/>
          <p:nvPr/>
        </p:nvSpPr>
        <p:spPr>
          <a:xfrm>
            <a:off x="4894225" y="3452300"/>
            <a:ext cx="4477800" cy="100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 dirty="0">
                <a:solidFill>
                  <a:srgbClr val="6A9955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# Define the news route</a:t>
            </a:r>
            <a:endParaRPr sz="1050" dirty="0">
              <a:solidFill>
                <a:srgbClr val="6A9955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 dirty="0">
                <a:solidFill>
                  <a:srgbClr val="DCDCAA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@</a:t>
            </a:r>
            <a:r>
              <a:rPr lang="en" sz="1050" dirty="0">
                <a:solidFill>
                  <a:srgbClr val="9CDCFE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app</a:t>
            </a:r>
            <a:r>
              <a:rPr lang="en" sz="1050" dirty="0">
                <a:solidFill>
                  <a:srgbClr val="DCDCAA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.route</a:t>
            </a:r>
            <a:r>
              <a:rPr lang="en" sz="1050" dirty="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" sz="1050" dirty="0">
                <a:solidFill>
                  <a:srgbClr val="CE9178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'/news/i/&lt;id&gt;'</a:t>
            </a:r>
            <a:r>
              <a:rPr lang="en" sz="1050" dirty="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sz="1050" dirty="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 dirty="0">
                <a:solidFill>
                  <a:srgbClr val="569CD6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def</a:t>
            </a:r>
            <a:r>
              <a:rPr lang="en" sz="1050" dirty="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50" dirty="0">
                <a:solidFill>
                  <a:srgbClr val="DCDCAA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news</a:t>
            </a:r>
            <a:r>
              <a:rPr lang="en" sz="1050" dirty="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" sz="1050" dirty="0">
                <a:solidFill>
                  <a:srgbClr val="9CDCFE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id</a:t>
            </a:r>
            <a:r>
              <a:rPr lang="en" sz="1050" dirty="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):</a:t>
            </a:r>
            <a:endParaRPr sz="1050" dirty="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 dirty="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en" sz="1050" dirty="0">
                <a:solidFill>
                  <a:srgbClr val="C586C0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return</a:t>
            </a:r>
            <a:r>
              <a:rPr lang="en" sz="1050" dirty="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50" dirty="0">
                <a:solidFill>
                  <a:srgbClr val="DCDCAA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render_template</a:t>
            </a:r>
            <a:r>
              <a:rPr lang="en" sz="1050" dirty="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" sz="1050" dirty="0">
                <a:solidFill>
                  <a:srgbClr val="CE9178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'news.html'</a:t>
            </a:r>
            <a:r>
              <a:rPr lang="en" sz="1050" dirty="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en" sz="1050" dirty="0">
                <a:solidFill>
                  <a:srgbClr val="9CDCFE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id</a:t>
            </a:r>
            <a:r>
              <a:rPr lang="en" sz="1050" dirty="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en" sz="1050" dirty="0">
                <a:solidFill>
                  <a:srgbClr val="9CDCFE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id</a:t>
            </a:r>
            <a:r>
              <a:rPr lang="en" sz="1050" dirty="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sz="1050" dirty="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262" name="Google Shape;262;p35"/>
          <p:cNvSpPr/>
          <p:nvPr/>
        </p:nvSpPr>
        <p:spPr>
          <a:xfrm rot="5823485">
            <a:off x="6395662" y="2893767"/>
            <a:ext cx="1369679" cy="19982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35"/>
          <p:cNvSpPr/>
          <p:nvPr/>
        </p:nvSpPr>
        <p:spPr>
          <a:xfrm rot="10659915">
            <a:off x="6325403" y="3927871"/>
            <a:ext cx="1369737" cy="199964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35"/>
          <p:cNvSpPr/>
          <p:nvPr/>
        </p:nvSpPr>
        <p:spPr>
          <a:xfrm rot="5673625">
            <a:off x="8164625" y="3365140"/>
            <a:ext cx="1369636" cy="199834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36"/>
          <p:cNvSpPr txBox="1"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</p:spPr>
        <p:txBody>
          <a:bodyPr spcFirstLastPara="1" wrap="square" lIns="68575" tIns="34275" rIns="68575" bIns="3427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0" name="Google Shape;270;p36"/>
          <p:cNvSpPr txBox="1"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700"/>
          </a:xfrm>
          <a:prstGeom prst="rect">
            <a:avLst/>
          </a:prstGeom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lvl="0" indent="0" algn="ctr" rtl="0">
              <a:spcBef>
                <a:spcPts val="80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1" name="Google Shape;271;p36"/>
          <p:cNvSpPr/>
          <p:nvPr/>
        </p:nvSpPr>
        <p:spPr>
          <a:xfrm>
            <a:off x="56775" y="0"/>
            <a:ext cx="9144000" cy="5143500"/>
          </a:xfrm>
          <a:prstGeom prst="rect">
            <a:avLst/>
          </a:prstGeom>
          <a:solidFill>
            <a:srgbClr val="3F3F3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Font typeface="Calibri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72" name="Google Shape;272;p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200774" cy="5175436"/>
          </a:xfrm>
          <a:prstGeom prst="rect">
            <a:avLst/>
          </a:prstGeom>
          <a:noFill/>
          <a:ln>
            <a:noFill/>
          </a:ln>
        </p:spPr>
      </p:pic>
      <p:pic>
        <p:nvPicPr>
          <p:cNvPr id="273" name="Google Shape;273;p3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072651" y="4746387"/>
            <a:ext cx="1001477" cy="287535"/>
          </a:xfrm>
          <a:prstGeom prst="rect">
            <a:avLst/>
          </a:prstGeom>
          <a:noFill/>
          <a:ln>
            <a:noFill/>
          </a:ln>
        </p:spPr>
      </p:pic>
      <p:sp>
        <p:nvSpPr>
          <p:cNvPr id="274" name="Google Shape;274;p36"/>
          <p:cNvSpPr txBox="1"/>
          <p:nvPr/>
        </p:nvSpPr>
        <p:spPr>
          <a:xfrm>
            <a:off x="577725" y="302125"/>
            <a:ext cx="8412300" cy="80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Font typeface="Calibri"/>
              <a:buNone/>
            </a:pPr>
            <a:r>
              <a:rPr lang="en" sz="4500" dirty="0">
                <a:solidFill>
                  <a:srgbClr val="F1C232"/>
                </a:solidFill>
                <a:latin typeface="Calibri"/>
                <a:ea typeface="Calibri"/>
                <a:cs typeface="Calibri"/>
                <a:sym typeface="Calibri"/>
              </a:rPr>
              <a:t>Routing in Flask - request handling</a:t>
            </a:r>
            <a:endParaRPr dirty="0">
              <a:solidFill>
                <a:srgbClr val="F1C23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75" name="Google Shape;275;p3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51500" y="4586100"/>
            <a:ext cx="512625" cy="512625"/>
          </a:xfrm>
          <a:prstGeom prst="rect">
            <a:avLst/>
          </a:prstGeom>
          <a:noFill/>
          <a:ln>
            <a:noFill/>
          </a:ln>
        </p:spPr>
      </p:pic>
      <p:sp>
        <p:nvSpPr>
          <p:cNvPr id="276" name="Google Shape;276;p36"/>
          <p:cNvSpPr txBox="1"/>
          <p:nvPr/>
        </p:nvSpPr>
        <p:spPr>
          <a:xfrm>
            <a:off x="577725" y="1234725"/>
            <a:ext cx="8171100" cy="212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Clr>
                <a:srgbClr val="F1C232"/>
              </a:buClr>
              <a:buSzPts val="1400"/>
              <a:buFont typeface="Calibri"/>
              <a:buChar char="-"/>
            </a:pPr>
            <a:r>
              <a:rPr lang="en">
                <a:solidFill>
                  <a:srgbClr val="F1C232"/>
                </a:solidFill>
                <a:latin typeface="Calibri"/>
                <a:ea typeface="Calibri"/>
                <a:cs typeface="Calibri"/>
                <a:sym typeface="Calibri"/>
              </a:rPr>
              <a:t>In web development there are different methods</a:t>
            </a:r>
            <a:endParaRPr>
              <a:solidFill>
                <a:srgbClr val="F1C23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Clr>
                <a:srgbClr val="F1C232"/>
              </a:buClr>
              <a:buSzPts val="1400"/>
              <a:buFont typeface="Calibri"/>
              <a:buChar char="-"/>
            </a:pPr>
            <a:r>
              <a:rPr lang="en">
                <a:solidFill>
                  <a:srgbClr val="F1C232"/>
                </a:solidFill>
                <a:latin typeface="Calibri"/>
                <a:ea typeface="Calibri"/>
                <a:cs typeface="Calibri"/>
                <a:sym typeface="Calibri"/>
              </a:rPr>
              <a:t>GET, POST, PUT, PATCH, DELETE</a:t>
            </a:r>
            <a:endParaRPr>
              <a:solidFill>
                <a:srgbClr val="F1C23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Clr>
                <a:srgbClr val="F1C232"/>
              </a:buClr>
              <a:buSzPts val="1400"/>
              <a:buFont typeface="Calibri"/>
              <a:buChar char="-"/>
            </a:pPr>
            <a:r>
              <a:rPr lang="en">
                <a:solidFill>
                  <a:srgbClr val="F1C232"/>
                </a:solidFill>
                <a:latin typeface="Calibri"/>
                <a:ea typeface="Calibri"/>
                <a:cs typeface="Calibri"/>
                <a:sym typeface="Calibri"/>
              </a:rPr>
              <a:t>Often called CRUD in the REST API world</a:t>
            </a:r>
            <a:endParaRPr>
              <a:solidFill>
                <a:srgbClr val="F1C23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Clr>
                <a:srgbClr val="F1C232"/>
              </a:buClr>
              <a:buSzPts val="1400"/>
              <a:buFont typeface="Calibri"/>
              <a:buChar char="-"/>
            </a:pPr>
            <a:r>
              <a:rPr lang="en">
                <a:solidFill>
                  <a:srgbClr val="F1C232"/>
                </a:solidFill>
                <a:latin typeface="Calibri"/>
                <a:ea typeface="Calibri"/>
                <a:cs typeface="Calibri"/>
                <a:sym typeface="Calibri"/>
              </a:rPr>
              <a:t>Different methods are used for different operations:</a:t>
            </a:r>
            <a:endParaRPr>
              <a:solidFill>
                <a:srgbClr val="F1C23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Clr>
                <a:srgbClr val="F1C232"/>
              </a:buClr>
              <a:buSzPts val="1400"/>
              <a:buFont typeface="Calibri"/>
              <a:buChar char="-"/>
            </a:pPr>
            <a:r>
              <a:rPr lang="en">
                <a:solidFill>
                  <a:srgbClr val="F1C232"/>
                </a:solidFill>
                <a:latin typeface="Calibri"/>
                <a:ea typeface="Calibri"/>
                <a:cs typeface="Calibri"/>
                <a:sym typeface="Calibri"/>
              </a:rPr>
              <a:t>GET -&gt; May I have this information</a:t>
            </a:r>
            <a:endParaRPr>
              <a:solidFill>
                <a:srgbClr val="F1C23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Clr>
                <a:srgbClr val="F1C232"/>
              </a:buClr>
              <a:buSzPts val="1400"/>
              <a:buFont typeface="Calibri"/>
              <a:buChar char="-"/>
            </a:pPr>
            <a:r>
              <a:rPr lang="en">
                <a:solidFill>
                  <a:srgbClr val="F1C232"/>
                </a:solidFill>
                <a:latin typeface="Calibri"/>
                <a:ea typeface="Calibri"/>
                <a:cs typeface="Calibri"/>
                <a:sym typeface="Calibri"/>
              </a:rPr>
              <a:t>POST -&gt; I am giving you this information, can you store it</a:t>
            </a:r>
            <a:endParaRPr>
              <a:solidFill>
                <a:srgbClr val="F1C23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F1C23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F1C23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F1C23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p36"/>
          <p:cNvSpPr txBox="1"/>
          <p:nvPr/>
        </p:nvSpPr>
        <p:spPr>
          <a:xfrm>
            <a:off x="4529200" y="2928125"/>
            <a:ext cx="4219800" cy="14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6A9955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# POST route</a:t>
            </a:r>
            <a:endParaRPr sz="1050">
              <a:solidFill>
                <a:srgbClr val="6A9955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DCDCAA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@</a:t>
            </a:r>
            <a:r>
              <a:rPr lang="en" sz="1050">
                <a:solidFill>
                  <a:srgbClr val="9CDCFE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app</a:t>
            </a:r>
            <a:r>
              <a:rPr lang="en" sz="1050">
                <a:solidFill>
                  <a:srgbClr val="DCDCAA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.route</a:t>
            </a:r>
            <a:r>
              <a:rPr lang="en" sz="105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" sz="1050">
                <a:solidFill>
                  <a:srgbClr val="CE9178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'/news'</a:t>
            </a:r>
            <a:r>
              <a:rPr lang="en" sz="105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en" sz="1050">
                <a:solidFill>
                  <a:srgbClr val="9CDCFE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methods</a:t>
            </a:r>
            <a:r>
              <a:rPr lang="en" sz="105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=[</a:t>
            </a:r>
            <a:r>
              <a:rPr lang="en" sz="1050">
                <a:solidFill>
                  <a:srgbClr val="CE9178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'POST'</a:t>
            </a:r>
            <a:r>
              <a:rPr lang="en" sz="105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])</a:t>
            </a:r>
            <a:endParaRPr sz="105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569CD6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def</a:t>
            </a:r>
            <a:r>
              <a:rPr lang="en" sz="105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50">
                <a:solidFill>
                  <a:srgbClr val="DCDCAA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news_create</a:t>
            </a:r>
            <a:r>
              <a:rPr lang="en" sz="105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():</a:t>
            </a:r>
            <a:endParaRPr sz="105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en" sz="1050">
                <a:solidFill>
                  <a:srgbClr val="9CDCFE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data</a:t>
            </a:r>
            <a:r>
              <a:rPr lang="en" sz="105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= request.form</a:t>
            </a:r>
            <a:endParaRPr sz="105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en" sz="1050">
                <a:solidFill>
                  <a:srgbClr val="9CDCFE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app</a:t>
            </a:r>
            <a:r>
              <a:rPr lang="en" sz="105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en" sz="1050">
                <a:solidFill>
                  <a:srgbClr val="9CDCFE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logger</a:t>
            </a:r>
            <a:r>
              <a:rPr lang="en" sz="105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en" sz="1050">
                <a:solidFill>
                  <a:srgbClr val="DCDCAA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info</a:t>
            </a:r>
            <a:r>
              <a:rPr lang="en" sz="105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" sz="1050">
                <a:solidFill>
                  <a:srgbClr val="569CD6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f</a:t>
            </a:r>
            <a:r>
              <a:rPr lang="en" sz="1050">
                <a:solidFill>
                  <a:srgbClr val="CE9178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"Received data: </a:t>
            </a:r>
            <a:r>
              <a:rPr lang="en" sz="1050">
                <a:solidFill>
                  <a:srgbClr val="569CD6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{</a:t>
            </a:r>
            <a:r>
              <a:rPr lang="en" sz="1050">
                <a:solidFill>
                  <a:srgbClr val="9CDCFE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data</a:t>
            </a:r>
            <a:r>
              <a:rPr lang="en" sz="1050">
                <a:solidFill>
                  <a:srgbClr val="569CD6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}</a:t>
            </a:r>
            <a:r>
              <a:rPr lang="en" sz="1050">
                <a:solidFill>
                  <a:srgbClr val="CE9178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"</a:t>
            </a:r>
            <a:r>
              <a:rPr lang="en" sz="105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sz="105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en" sz="1050">
                <a:solidFill>
                  <a:srgbClr val="C586C0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return</a:t>
            </a:r>
            <a:r>
              <a:rPr lang="en" sz="105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50">
                <a:solidFill>
                  <a:srgbClr val="DCDCAA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render_template</a:t>
            </a:r>
            <a:r>
              <a:rPr lang="en" sz="105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" sz="1050">
                <a:solidFill>
                  <a:srgbClr val="CE9178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'news_create.html'</a:t>
            </a:r>
            <a:r>
              <a:rPr lang="en" sz="105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sz="105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278" name="Google Shape;278;p36"/>
          <p:cNvSpPr txBox="1"/>
          <p:nvPr/>
        </p:nvSpPr>
        <p:spPr>
          <a:xfrm>
            <a:off x="248200" y="3107075"/>
            <a:ext cx="4281000" cy="100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6A9955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# GET route</a:t>
            </a:r>
            <a:endParaRPr sz="1050">
              <a:solidFill>
                <a:srgbClr val="6A9955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DCDCAA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@</a:t>
            </a:r>
            <a:r>
              <a:rPr lang="en" sz="1050">
                <a:solidFill>
                  <a:srgbClr val="9CDCFE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app</a:t>
            </a:r>
            <a:r>
              <a:rPr lang="en" sz="1050">
                <a:solidFill>
                  <a:srgbClr val="DCDCAA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.route</a:t>
            </a:r>
            <a:r>
              <a:rPr lang="en" sz="105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" sz="1050">
                <a:solidFill>
                  <a:srgbClr val="CE9178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'/news'</a:t>
            </a:r>
            <a:r>
              <a:rPr lang="en" sz="105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en" sz="1050">
                <a:solidFill>
                  <a:srgbClr val="9CDCFE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methods</a:t>
            </a:r>
            <a:r>
              <a:rPr lang="en" sz="105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=[</a:t>
            </a:r>
            <a:r>
              <a:rPr lang="en" sz="1050">
                <a:solidFill>
                  <a:srgbClr val="CE9178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'GET'</a:t>
            </a:r>
            <a:r>
              <a:rPr lang="en" sz="105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])</a:t>
            </a:r>
            <a:endParaRPr sz="105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569CD6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def</a:t>
            </a:r>
            <a:r>
              <a:rPr lang="en" sz="105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50">
                <a:solidFill>
                  <a:srgbClr val="DCDCAA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news_list</a:t>
            </a:r>
            <a:r>
              <a:rPr lang="en" sz="105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():</a:t>
            </a:r>
            <a:endParaRPr sz="105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en" sz="1050">
                <a:solidFill>
                  <a:srgbClr val="C586C0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return</a:t>
            </a:r>
            <a:r>
              <a:rPr lang="en" sz="105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50">
                <a:solidFill>
                  <a:srgbClr val="DCDCAA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render_template</a:t>
            </a:r>
            <a:r>
              <a:rPr lang="en" sz="105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" sz="1050">
                <a:solidFill>
                  <a:srgbClr val="CE9178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'news_list.html'</a:t>
            </a:r>
            <a:r>
              <a:rPr lang="en" sz="105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sz="105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37"/>
          <p:cNvSpPr txBox="1"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</p:spPr>
        <p:txBody>
          <a:bodyPr spcFirstLastPara="1" wrap="square" lIns="68575" tIns="34275" rIns="68575" bIns="3427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4" name="Google Shape;284;p37"/>
          <p:cNvSpPr txBox="1"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700"/>
          </a:xfrm>
          <a:prstGeom prst="rect">
            <a:avLst/>
          </a:prstGeom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lvl="0" indent="0" algn="ctr" rtl="0">
              <a:spcBef>
                <a:spcPts val="80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5" name="Google Shape;285;p37"/>
          <p:cNvSpPr/>
          <p:nvPr/>
        </p:nvSpPr>
        <p:spPr>
          <a:xfrm>
            <a:off x="56775" y="0"/>
            <a:ext cx="9144000" cy="5143500"/>
          </a:xfrm>
          <a:prstGeom prst="rect">
            <a:avLst/>
          </a:prstGeom>
          <a:solidFill>
            <a:srgbClr val="3F3F3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Font typeface="Calibri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86" name="Google Shape;286;p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200774" cy="5175436"/>
          </a:xfrm>
          <a:prstGeom prst="rect">
            <a:avLst/>
          </a:prstGeom>
          <a:noFill/>
          <a:ln>
            <a:noFill/>
          </a:ln>
        </p:spPr>
      </p:pic>
      <p:pic>
        <p:nvPicPr>
          <p:cNvPr id="287" name="Google Shape;287;p3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072651" y="4746387"/>
            <a:ext cx="1001477" cy="287535"/>
          </a:xfrm>
          <a:prstGeom prst="rect">
            <a:avLst/>
          </a:prstGeom>
          <a:noFill/>
          <a:ln>
            <a:noFill/>
          </a:ln>
        </p:spPr>
      </p:pic>
      <p:sp>
        <p:nvSpPr>
          <p:cNvPr id="288" name="Google Shape;288;p37"/>
          <p:cNvSpPr txBox="1"/>
          <p:nvPr/>
        </p:nvSpPr>
        <p:spPr>
          <a:xfrm>
            <a:off x="577725" y="302125"/>
            <a:ext cx="8412300" cy="80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Font typeface="Calibri"/>
              <a:buNone/>
            </a:pPr>
            <a:r>
              <a:rPr lang="en" sz="4500" dirty="0">
                <a:solidFill>
                  <a:srgbClr val="F1C232"/>
                </a:solidFill>
                <a:latin typeface="Calibri"/>
                <a:ea typeface="Calibri"/>
                <a:cs typeface="Calibri"/>
                <a:sym typeface="Calibri"/>
              </a:rPr>
              <a:t>File structure in a Flask project</a:t>
            </a:r>
            <a:endParaRPr dirty="0">
              <a:solidFill>
                <a:srgbClr val="F1C23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89" name="Google Shape;289;p3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51500" y="4586100"/>
            <a:ext cx="512625" cy="512625"/>
          </a:xfrm>
          <a:prstGeom prst="rect">
            <a:avLst/>
          </a:prstGeom>
          <a:noFill/>
          <a:ln>
            <a:noFill/>
          </a:ln>
        </p:spPr>
      </p:pic>
      <p:sp>
        <p:nvSpPr>
          <p:cNvPr id="290" name="Google Shape;290;p37"/>
          <p:cNvSpPr txBox="1"/>
          <p:nvPr/>
        </p:nvSpPr>
        <p:spPr>
          <a:xfrm>
            <a:off x="577725" y="1234725"/>
            <a:ext cx="8171100" cy="363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Clr>
                <a:srgbClr val="F1C232"/>
              </a:buClr>
              <a:buSzPts val="1400"/>
              <a:buFont typeface="Calibri"/>
              <a:buChar char="-"/>
            </a:pPr>
            <a:r>
              <a:rPr lang="en">
                <a:solidFill>
                  <a:srgbClr val="F1C232"/>
                </a:solidFill>
                <a:latin typeface="Calibri"/>
                <a:ea typeface="Calibri"/>
                <a:cs typeface="Calibri"/>
                <a:sym typeface="Calibri"/>
              </a:rPr>
              <a:t>Folder:app</a:t>
            </a:r>
            <a:endParaRPr>
              <a:solidFill>
                <a:srgbClr val="F1C23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Clr>
                <a:srgbClr val="F1C232"/>
              </a:buClr>
              <a:buSzPts val="1400"/>
              <a:buFont typeface="Calibri"/>
              <a:buChar char="-"/>
            </a:pPr>
            <a:r>
              <a:rPr lang="en">
                <a:solidFill>
                  <a:srgbClr val="F1C232"/>
                </a:solidFill>
                <a:latin typeface="Calibri"/>
                <a:ea typeface="Calibri"/>
                <a:cs typeface="Calibri"/>
                <a:sym typeface="Calibri"/>
              </a:rPr>
              <a:t>Folder:static</a:t>
            </a:r>
            <a:endParaRPr>
              <a:solidFill>
                <a:srgbClr val="F1C23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371600" lvl="2" indent="-317500" algn="l" rtl="0">
              <a:spcBef>
                <a:spcPts val="0"/>
              </a:spcBef>
              <a:spcAft>
                <a:spcPts val="0"/>
              </a:spcAft>
              <a:buClr>
                <a:srgbClr val="F1C232"/>
              </a:buClr>
              <a:buSzPts val="1400"/>
              <a:buFont typeface="Calibri"/>
              <a:buChar char="-"/>
            </a:pPr>
            <a:r>
              <a:rPr lang="en">
                <a:solidFill>
                  <a:srgbClr val="F1C232"/>
                </a:solidFill>
                <a:latin typeface="Calibri"/>
                <a:ea typeface="Calibri"/>
                <a:cs typeface="Calibri"/>
                <a:sym typeface="Calibri"/>
              </a:rPr>
              <a:t>style.css  -&gt; Styling</a:t>
            </a:r>
            <a:endParaRPr>
              <a:solidFill>
                <a:srgbClr val="F1C23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371600" lvl="2" indent="-317500" algn="l" rtl="0">
              <a:spcBef>
                <a:spcPts val="0"/>
              </a:spcBef>
              <a:spcAft>
                <a:spcPts val="0"/>
              </a:spcAft>
              <a:buClr>
                <a:srgbClr val="F1C232"/>
              </a:buClr>
              <a:buSzPts val="1400"/>
              <a:buFont typeface="Calibri"/>
              <a:buChar char="-"/>
            </a:pPr>
            <a:r>
              <a:rPr lang="en">
                <a:solidFill>
                  <a:srgbClr val="F1C232"/>
                </a:solidFill>
                <a:latin typeface="Calibri"/>
                <a:ea typeface="Calibri"/>
                <a:cs typeface="Calibri"/>
                <a:sym typeface="Calibri"/>
              </a:rPr>
              <a:t>customScript.js  -&gt; Custom JavaScript code</a:t>
            </a:r>
            <a:endParaRPr>
              <a:solidFill>
                <a:srgbClr val="F1C23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371600" lvl="2" indent="-317500" algn="l" rtl="0">
              <a:spcBef>
                <a:spcPts val="0"/>
              </a:spcBef>
              <a:spcAft>
                <a:spcPts val="0"/>
              </a:spcAft>
              <a:buClr>
                <a:srgbClr val="F1C232"/>
              </a:buClr>
              <a:buSzPts val="1400"/>
              <a:buFont typeface="Calibri"/>
              <a:buChar char="-"/>
            </a:pPr>
            <a:r>
              <a:rPr lang="en">
                <a:solidFill>
                  <a:srgbClr val="F1C232"/>
                </a:solidFill>
                <a:latin typeface="Calibri"/>
                <a:ea typeface="Calibri"/>
                <a:cs typeface="Calibri"/>
                <a:sym typeface="Calibri"/>
              </a:rPr>
              <a:t>Folder:images -&gt; images</a:t>
            </a:r>
            <a:endParaRPr>
              <a:solidFill>
                <a:srgbClr val="F1C23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Clr>
                <a:srgbClr val="F1C232"/>
              </a:buClr>
              <a:buSzPts val="1400"/>
              <a:buFont typeface="Calibri"/>
              <a:buChar char="-"/>
            </a:pPr>
            <a:r>
              <a:rPr lang="en">
                <a:solidFill>
                  <a:srgbClr val="F1C232"/>
                </a:solidFill>
                <a:latin typeface="Calibri"/>
                <a:ea typeface="Calibri"/>
                <a:cs typeface="Calibri"/>
                <a:sym typeface="Calibri"/>
              </a:rPr>
              <a:t>Folder:templates -&gt; The individual pages</a:t>
            </a:r>
            <a:endParaRPr>
              <a:solidFill>
                <a:srgbClr val="F1C23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Clr>
                <a:srgbClr val="F1C232"/>
              </a:buClr>
              <a:buSzPts val="1400"/>
              <a:buFont typeface="Calibri"/>
              <a:buChar char="-"/>
            </a:pPr>
            <a:r>
              <a:rPr lang="en">
                <a:solidFill>
                  <a:srgbClr val="F1C232"/>
                </a:solidFill>
                <a:latin typeface="Calibri"/>
                <a:ea typeface="Calibri"/>
                <a:cs typeface="Calibri"/>
                <a:sym typeface="Calibri"/>
              </a:rPr>
              <a:t>app.py -&gt; The main code</a:t>
            </a:r>
            <a:endParaRPr>
              <a:solidFill>
                <a:srgbClr val="F1C23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Clr>
                <a:srgbClr val="F1C232"/>
              </a:buClr>
              <a:buSzPts val="1400"/>
              <a:buFont typeface="Calibri"/>
              <a:buChar char="-"/>
            </a:pPr>
            <a:r>
              <a:rPr lang="en">
                <a:solidFill>
                  <a:srgbClr val="F1C232"/>
                </a:solidFill>
                <a:latin typeface="Calibri"/>
                <a:ea typeface="Calibri"/>
                <a:cs typeface="Calibri"/>
                <a:sym typeface="Calibri"/>
              </a:rPr>
              <a:t>config.py -&gt; Configuration of the application</a:t>
            </a:r>
            <a:endParaRPr>
              <a:solidFill>
                <a:srgbClr val="F1C23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Clr>
                <a:srgbClr val="F1C232"/>
              </a:buClr>
              <a:buSzPts val="1400"/>
              <a:buFont typeface="Calibri"/>
              <a:buChar char="-"/>
            </a:pPr>
            <a:r>
              <a:rPr lang="en">
                <a:solidFill>
                  <a:srgbClr val="F1C232"/>
                </a:solidFill>
                <a:latin typeface="Calibri"/>
                <a:ea typeface="Calibri"/>
                <a:cs typeface="Calibri"/>
                <a:sym typeface="Calibri"/>
              </a:rPr>
              <a:t>models.py -&gt; Database schemas</a:t>
            </a:r>
            <a:endParaRPr>
              <a:solidFill>
                <a:srgbClr val="F1C23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Clr>
                <a:srgbClr val="F1C232"/>
              </a:buClr>
              <a:buSzPts val="1400"/>
              <a:buFont typeface="Calibri"/>
              <a:buChar char="-"/>
            </a:pPr>
            <a:r>
              <a:rPr lang="en">
                <a:solidFill>
                  <a:srgbClr val="F1C232"/>
                </a:solidFill>
                <a:latin typeface="Calibri"/>
                <a:ea typeface="Calibri"/>
                <a:cs typeface="Calibri"/>
                <a:sym typeface="Calibri"/>
              </a:rPr>
              <a:t>.gitignore: Files Git should ignore</a:t>
            </a:r>
            <a:endParaRPr>
              <a:solidFill>
                <a:srgbClr val="F1C23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Clr>
                <a:srgbClr val="F1C232"/>
              </a:buClr>
              <a:buSzPts val="1400"/>
              <a:buFont typeface="Calibri"/>
              <a:buChar char="-"/>
            </a:pPr>
            <a:r>
              <a:rPr lang="en">
                <a:solidFill>
                  <a:srgbClr val="F1C232"/>
                </a:solidFill>
                <a:latin typeface="Calibri"/>
                <a:ea typeface="Calibri"/>
                <a:cs typeface="Calibri"/>
                <a:sym typeface="Calibri"/>
              </a:rPr>
              <a:t>Readme.md: Information about the application</a:t>
            </a:r>
            <a:endParaRPr>
              <a:solidFill>
                <a:srgbClr val="F1C23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Clr>
                <a:srgbClr val="F1C232"/>
              </a:buClr>
              <a:buSzPts val="1400"/>
              <a:buFont typeface="Calibri"/>
              <a:buChar char="-"/>
            </a:pPr>
            <a:r>
              <a:rPr lang="en">
                <a:solidFill>
                  <a:srgbClr val="F1C232"/>
                </a:solidFill>
                <a:latin typeface="Calibri"/>
                <a:ea typeface="Calibri"/>
                <a:cs typeface="Calibri"/>
                <a:sym typeface="Calibri"/>
              </a:rPr>
              <a:t>Dockerfile: Docker instructions</a:t>
            </a:r>
            <a:endParaRPr>
              <a:solidFill>
                <a:srgbClr val="F1C23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Clr>
                <a:srgbClr val="F1C232"/>
              </a:buClr>
              <a:buSzPts val="1400"/>
              <a:buFont typeface="Calibri"/>
              <a:buChar char="-"/>
            </a:pPr>
            <a:r>
              <a:rPr lang="en">
                <a:solidFill>
                  <a:srgbClr val="F1C232"/>
                </a:solidFill>
                <a:latin typeface="Calibri"/>
                <a:ea typeface="Calibri"/>
                <a:cs typeface="Calibri"/>
                <a:sym typeface="Calibri"/>
              </a:rPr>
              <a:t>.env -&gt; Environment variables</a:t>
            </a:r>
            <a:endParaRPr>
              <a:solidFill>
                <a:srgbClr val="F1C23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Clr>
                <a:srgbClr val="F1C232"/>
              </a:buClr>
              <a:buSzPts val="1400"/>
              <a:buFont typeface="Calibri"/>
              <a:buChar char="-"/>
            </a:pPr>
            <a:r>
              <a:rPr lang="en">
                <a:solidFill>
                  <a:srgbClr val="F1C232"/>
                </a:solidFill>
                <a:latin typeface="Calibri"/>
                <a:ea typeface="Calibri"/>
                <a:cs typeface="Calibri"/>
                <a:sym typeface="Calibri"/>
              </a:rPr>
              <a:t>.venv -&gt; Virtual environment</a:t>
            </a:r>
            <a:endParaRPr>
              <a:solidFill>
                <a:srgbClr val="F1C23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F1C23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F1C23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91" name="Google Shape;291;p3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047988" y="1045600"/>
            <a:ext cx="3152775" cy="3429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38"/>
          <p:cNvSpPr txBox="1"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</p:spPr>
        <p:txBody>
          <a:bodyPr spcFirstLastPara="1" wrap="square" lIns="68575" tIns="34275" rIns="68575" bIns="3427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7" name="Google Shape;297;p38"/>
          <p:cNvSpPr txBox="1"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700"/>
          </a:xfrm>
          <a:prstGeom prst="rect">
            <a:avLst/>
          </a:prstGeom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lvl="0" indent="0" algn="ctr" rtl="0">
              <a:spcBef>
                <a:spcPts val="80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8" name="Google Shape;298;p38"/>
          <p:cNvSpPr/>
          <p:nvPr/>
        </p:nvSpPr>
        <p:spPr>
          <a:xfrm>
            <a:off x="56775" y="0"/>
            <a:ext cx="9144000" cy="5143500"/>
          </a:xfrm>
          <a:prstGeom prst="rect">
            <a:avLst/>
          </a:prstGeom>
          <a:solidFill>
            <a:srgbClr val="3F3F3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Font typeface="Calibri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99" name="Google Shape;299;p3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200774" cy="5175436"/>
          </a:xfrm>
          <a:prstGeom prst="rect">
            <a:avLst/>
          </a:prstGeom>
          <a:noFill/>
          <a:ln>
            <a:noFill/>
          </a:ln>
        </p:spPr>
      </p:pic>
      <p:pic>
        <p:nvPicPr>
          <p:cNvPr id="300" name="Google Shape;300;p3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072651" y="4746387"/>
            <a:ext cx="1001477" cy="287535"/>
          </a:xfrm>
          <a:prstGeom prst="rect">
            <a:avLst/>
          </a:prstGeom>
          <a:noFill/>
          <a:ln>
            <a:noFill/>
          </a:ln>
        </p:spPr>
      </p:pic>
      <p:sp>
        <p:nvSpPr>
          <p:cNvPr id="301" name="Google Shape;301;p38"/>
          <p:cNvSpPr txBox="1"/>
          <p:nvPr/>
        </p:nvSpPr>
        <p:spPr>
          <a:xfrm>
            <a:off x="577725" y="302125"/>
            <a:ext cx="8412300" cy="80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Font typeface="Calibri"/>
              <a:buNone/>
            </a:pPr>
            <a:r>
              <a:rPr lang="en" sz="4500">
                <a:solidFill>
                  <a:srgbClr val="F1C232"/>
                </a:solidFill>
                <a:latin typeface="Calibri"/>
                <a:ea typeface="Calibri"/>
                <a:cs typeface="Calibri"/>
                <a:sym typeface="Calibri"/>
              </a:rPr>
              <a:t>Template handling</a:t>
            </a:r>
            <a:endParaRPr>
              <a:solidFill>
                <a:srgbClr val="F1C23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02" name="Google Shape;302;p3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51500" y="4586100"/>
            <a:ext cx="512625" cy="512625"/>
          </a:xfrm>
          <a:prstGeom prst="rect">
            <a:avLst/>
          </a:prstGeom>
          <a:noFill/>
          <a:ln>
            <a:noFill/>
          </a:ln>
        </p:spPr>
      </p:pic>
      <p:sp>
        <p:nvSpPr>
          <p:cNvPr id="303" name="Google Shape;303;p38"/>
          <p:cNvSpPr txBox="1"/>
          <p:nvPr/>
        </p:nvSpPr>
        <p:spPr>
          <a:xfrm>
            <a:off x="577725" y="1234725"/>
            <a:ext cx="8171100" cy="263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Clr>
                <a:srgbClr val="F1C232"/>
              </a:buClr>
              <a:buSzPts val="1400"/>
              <a:buFont typeface="Calibri"/>
              <a:buChar char="-"/>
            </a:pPr>
            <a:r>
              <a:rPr lang="en">
                <a:solidFill>
                  <a:srgbClr val="F1C232"/>
                </a:solidFill>
                <a:latin typeface="Calibri"/>
                <a:ea typeface="Calibri"/>
                <a:cs typeface="Calibri"/>
                <a:sym typeface="Calibri"/>
              </a:rPr>
              <a:t>Flask uses something called server-side rendering</a:t>
            </a:r>
            <a:endParaRPr>
              <a:solidFill>
                <a:srgbClr val="F1C23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Clr>
                <a:srgbClr val="F1C232"/>
              </a:buClr>
              <a:buSzPts val="1400"/>
              <a:buFont typeface="Calibri"/>
              <a:buChar char="-"/>
            </a:pPr>
            <a:r>
              <a:rPr lang="en">
                <a:solidFill>
                  <a:srgbClr val="F1C232"/>
                </a:solidFill>
                <a:latin typeface="Calibri"/>
                <a:ea typeface="Calibri"/>
                <a:cs typeface="Calibri"/>
                <a:sym typeface="Calibri"/>
              </a:rPr>
              <a:t>We build the pages (html documents) on the server, then send them to the client (the browser)</a:t>
            </a:r>
            <a:endParaRPr>
              <a:solidFill>
                <a:srgbClr val="F1C23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Clr>
                <a:srgbClr val="F1C232"/>
              </a:buClr>
              <a:buSzPts val="1400"/>
              <a:buFont typeface="Calibri"/>
              <a:buChar char="-"/>
            </a:pPr>
            <a:r>
              <a:rPr lang="en">
                <a:solidFill>
                  <a:srgbClr val="F1C232"/>
                </a:solidFill>
                <a:latin typeface="Calibri"/>
                <a:ea typeface="Calibri"/>
                <a:cs typeface="Calibri"/>
                <a:sym typeface="Calibri"/>
              </a:rPr>
              <a:t>This means every page has its own .html document</a:t>
            </a:r>
            <a:endParaRPr>
              <a:solidFill>
                <a:srgbClr val="F1C23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Clr>
                <a:srgbClr val="F1C232"/>
              </a:buClr>
              <a:buSzPts val="1400"/>
              <a:buFont typeface="Calibri"/>
              <a:buChar char="-"/>
            </a:pPr>
            <a:r>
              <a:rPr lang="en">
                <a:solidFill>
                  <a:srgbClr val="F1C232"/>
                </a:solidFill>
                <a:latin typeface="Calibri"/>
                <a:ea typeface="Calibri"/>
                <a:cs typeface="Calibri"/>
                <a:sym typeface="Calibri"/>
              </a:rPr>
              <a:t>Flask also uses something called Jinja2 as its template engine.</a:t>
            </a:r>
            <a:endParaRPr>
              <a:solidFill>
                <a:srgbClr val="F1C23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Clr>
                <a:srgbClr val="F1C232"/>
              </a:buClr>
              <a:buSzPts val="1400"/>
              <a:buFont typeface="Calibri"/>
              <a:buChar char="-"/>
            </a:pPr>
            <a:r>
              <a:rPr lang="en">
                <a:solidFill>
                  <a:srgbClr val="F1C232"/>
                </a:solidFill>
                <a:latin typeface="Calibri"/>
                <a:ea typeface="Calibri"/>
                <a:cs typeface="Calibri"/>
                <a:sym typeface="Calibri"/>
              </a:rPr>
              <a:t>This opens up quite a few possibilities</a:t>
            </a:r>
            <a:endParaRPr>
              <a:solidFill>
                <a:srgbClr val="F1C23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Clr>
                <a:srgbClr val="F1C232"/>
              </a:buClr>
              <a:buSzPts val="1400"/>
              <a:buFont typeface="Calibri"/>
              <a:buChar char="-"/>
            </a:pPr>
            <a:r>
              <a:rPr lang="en">
                <a:solidFill>
                  <a:srgbClr val="F1C232"/>
                </a:solidFill>
                <a:latin typeface="Calibri"/>
                <a:ea typeface="Calibri"/>
                <a:cs typeface="Calibri"/>
                <a:sym typeface="Calibri"/>
              </a:rPr>
              <a:t>As you may have noticed, every route returns almost the same line</a:t>
            </a:r>
            <a:endParaRPr>
              <a:solidFill>
                <a:srgbClr val="F1C23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1750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rgbClr val="F1C232"/>
              </a:buClr>
              <a:buSzPts val="1400"/>
              <a:buFont typeface="Calibri"/>
              <a:buChar char="-"/>
            </a:pPr>
            <a:r>
              <a:rPr lang="en" sz="105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50">
                <a:solidFill>
                  <a:srgbClr val="C586C0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return</a:t>
            </a:r>
            <a:r>
              <a:rPr lang="en" sz="105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50">
                <a:solidFill>
                  <a:srgbClr val="DCDCAA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render_template</a:t>
            </a:r>
            <a:r>
              <a:rPr lang="en" sz="105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" sz="1050">
                <a:solidFill>
                  <a:srgbClr val="CE9178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'&lt;file&gt;.html'</a:t>
            </a:r>
            <a:r>
              <a:rPr lang="en" sz="105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sz="105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Clr>
                <a:srgbClr val="F1C232"/>
              </a:buClr>
              <a:buSzPts val="1400"/>
              <a:buFont typeface="Calibri"/>
              <a:buChar char="-"/>
            </a:pPr>
            <a:r>
              <a:rPr lang="en">
                <a:solidFill>
                  <a:srgbClr val="F1C232"/>
                </a:solidFill>
                <a:latin typeface="Calibri"/>
                <a:ea typeface="Calibri"/>
                <a:cs typeface="Calibri"/>
                <a:sym typeface="Calibri"/>
              </a:rPr>
              <a:t>This is what creates the actual web page you see in the browser</a:t>
            </a:r>
            <a:endParaRPr>
              <a:solidFill>
                <a:srgbClr val="F1C23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F1C23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F1C23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F1C23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39"/>
          <p:cNvSpPr txBox="1"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</p:spPr>
        <p:txBody>
          <a:bodyPr spcFirstLastPara="1" wrap="square" lIns="68575" tIns="34275" rIns="68575" bIns="3427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9" name="Google Shape;309;p39"/>
          <p:cNvSpPr txBox="1"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700"/>
          </a:xfrm>
          <a:prstGeom prst="rect">
            <a:avLst/>
          </a:prstGeom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lvl="0" indent="0" algn="ctr" rtl="0">
              <a:spcBef>
                <a:spcPts val="80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0" name="Google Shape;310;p39"/>
          <p:cNvSpPr/>
          <p:nvPr/>
        </p:nvSpPr>
        <p:spPr>
          <a:xfrm>
            <a:off x="56775" y="0"/>
            <a:ext cx="9144000" cy="5143500"/>
          </a:xfrm>
          <a:prstGeom prst="rect">
            <a:avLst/>
          </a:prstGeom>
          <a:solidFill>
            <a:srgbClr val="3F3F3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Font typeface="Calibri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11" name="Google Shape;311;p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200774" cy="5175436"/>
          </a:xfrm>
          <a:prstGeom prst="rect">
            <a:avLst/>
          </a:prstGeom>
          <a:noFill/>
          <a:ln>
            <a:noFill/>
          </a:ln>
        </p:spPr>
      </p:pic>
      <p:pic>
        <p:nvPicPr>
          <p:cNvPr id="312" name="Google Shape;312;p3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072651" y="4746387"/>
            <a:ext cx="1001477" cy="287535"/>
          </a:xfrm>
          <a:prstGeom prst="rect">
            <a:avLst/>
          </a:prstGeom>
          <a:noFill/>
          <a:ln>
            <a:noFill/>
          </a:ln>
        </p:spPr>
      </p:pic>
      <p:sp>
        <p:nvSpPr>
          <p:cNvPr id="313" name="Google Shape;313;p39"/>
          <p:cNvSpPr txBox="1"/>
          <p:nvPr/>
        </p:nvSpPr>
        <p:spPr>
          <a:xfrm>
            <a:off x="577725" y="302125"/>
            <a:ext cx="8412300" cy="80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Font typeface="Calibri"/>
              <a:buNone/>
            </a:pPr>
            <a:r>
              <a:rPr lang="en" sz="4500">
                <a:solidFill>
                  <a:srgbClr val="F1C232"/>
                </a:solidFill>
                <a:latin typeface="Calibri"/>
                <a:ea typeface="Calibri"/>
                <a:cs typeface="Calibri"/>
                <a:sym typeface="Calibri"/>
              </a:rPr>
              <a:t>Basic HTML</a:t>
            </a:r>
            <a:endParaRPr>
              <a:solidFill>
                <a:srgbClr val="F1C23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14" name="Google Shape;314;p3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51500" y="4586100"/>
            <a:ext cx="512625" cy="512625"/>
          </a:xfrm>
          <a:prstGeom prst="rect">
            <a:avLst/>
          </a:prstGeom>
          <a:noFill/>
          <a:ln>
            <a:noFill/>
          </a:ln>
        </p:spPr>
      </p:pic>
      <p:sp>
        <p:nvSpPr>
          <p:cNvPr id="315" name="Google Shape;315;p39"/>
          <p:cNvSpPr txBox="1"/>
          <p:nvPr/>
        </p:nvSpPr>
        <p:spPr>
          <a:xfrm>
            <a:off x="577725" y="1234725"/>
            <a:ext cx="8171100" cy="363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Clr>
                <a:srgbClr val="F1C232"/>
              </a:buClr>
              <a:buSzPts val="1400"/>
              <a:buFont typeface="Calibri"/>
              <a:buChar char="-"/>
            </a:pPr>
            <a:r>
              <a:rPr lang="en">
                <a:solidFill>
                  <a:srgbClr val="F1C232"/>
                </a:solidFill>
                <a:latin typeface="Calibri"/>
                <a:ea typeface="Calibri"/>
                <a:cs typeface="Calibri"/>
                <a:sym typeface="Calibri"/>
              </a:rPr>
              <a:t>HTML: Hyper text markup language</a:t>
            </a:r>
            <a:endParaRPr>
              <a:solidFill>
                <a:srgbClr val="F1C23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Clr>
                <a:srgbClr val="F1C232"/>
              </a:buClr>
              <a:buSzPts val="1400"/>
              <a:buFont typeface="Calibri"/>
              <a:buChar char="-"/>
            </a:pPr>
            <a:r>
              <a:rPr lang="en">
                <a:solidFill>
                  <a:srgbClr val="F1C232"/>
                </a:solidFill>
                <a:latin typeface="Calibri"/>
                <a:ea typeface="Calibri"/>
                <a:cs typeface="Calibri"/>
                <a:sym typeface="Calibri"/>
              </a:rPr>
              <a:t>Used to build web pages</a:t>
            </a:r>
            <a:endParaRPr>
              <a:solidFill>
                <a:srgbClr val="F1C23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Clr>
                <a:srgbClr val="F1C232"/>
              </a:buClr>
              <a:buSzPts val="1400"/>
              <a:buFont typeface="Calibri"/>
              <a:buChar char="-"/>
            </a:pPr>
            <a:r>
              <a:rPr lang="en">
                <a:solidFill>
                  <a:srgbClr val="F1C232"/>
                </a:solidFill>
                <a:latin typeface="Calibri"/>
                <a:ea typeface="Calibri"/>
                <a:cs typeface="Calibri"/>
                <a:sym typeface="Calibri"/>
              </a:rPr>
              <a:t>Consists of two main sections</a:t>
            </a:r>
            <a:endParaRPr>
              <a:solidFill>
                <a:srgbClr val="F1C23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Clr>
                <a:srgbClr val="F1C232"/>
              </a:buClr>
              <a:buSzPts val="1400"/>
              <a:buFont typeface="Calibri"/>
              <a:buChar char="-"/>
            </a:pPr>
            <a:r>
              <a:rPr lang="en">
                <a:solidFill>
                  <a:srgbClr val="F1C232"/>
                </a:solidFill>
                <a:latin typeface="Calibri"/>
                <a:ea typeface="Calibri"/>
                <a:cs typeface="Calibri"/>
                <a:sym typeface="Calibri"/>
              </a:rPr>
              <a:t>&lt;head&gt; - metadata, title, CSS links</a:t>
            </a:r>
            <a:endParaRPr>
              <a:solidFill>
                <a:srgbClr val="F1C23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Clr>
                <a:srgbClr val="F1C232"/>
              </a:buClr>
              <a:buSzPts val="1400"/>
              <a:buFont typeface="Calibri"/>
              <a:buChar char="-"/>
            </a:pPr>
            <a:r>
              <a:rPr lang="en">
                <a:solidFill>
                  <a:srgbClr val="F1C232"/>
                </a:solidFill>
                <a:latin typeface="Calibri"/>
                <a:ea typeface="Calibri"/>
                <a:cs typeface="Calibri"/>
                <a:sym typeface="Calibri"/>
              </a:rPr>
              <a:t>&lt;body&gt; - everything the user actually sees</a:t>
            </a:r>
            <a:endParaRPr>
              <a:solidFill>
                <a:srgbClr val="F1C23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Clr>
                <a:srgbClr val="F1C232"/>
              </a:buClr>
              <a:buSzPts val="1400"/>
              <a:buFont typeface="Calibri"/>
              <a:buChar char="-"/>
            </a:pPr>
            <a:r>
              <a:rPr lang="en">
                <a:solidFill>
                  <a:srgbClr val="F1C232"/>
                </a:solidFill>
                <a:latin typeface="Calibri"/>
                <a:ea typeface="Calibri"/>
                <a:cs typeface="Calibri"/>
                <a:sym typeface="Calibri"/>
              </a:rPr>
              <a:t>&lt;header&gt; and &lt;footer&gt; are layout elements inside &lt;body&gt;</a:t>
            </a:r>
            <a:endParaRPr>
              <a:solidFill>
                <a:srgbClr val="F1C23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Clr>
                <a:srgbClr val="F1C232"/>
              </a:buClr>
              <a:buSzPts val="1400"/>
              <a:buFont typeface="Calibri"/>
              <a:buChar char="-"/>
            </a:pPr>
            <a:r>
              <a:rPr lang="en">
                <a:solidFill>
                  <a:srgbClr val="F1C232"/>
                </a:solidFill>
                <a:latin typeface="Calibri"/>
                <a:ea typeface="Calibri"/>
                <a:cs typeface="Calibri"/>
                <a:sym typeface="Calibri"/>
              </a:rPr>
              <a:t>Every element in an html document is wrapped in &lt;tags&gt;. For example:</a:t>
            </a:r>
            <a:endParaRPr>
              <a:solidFill>
                <a:srgbClr val="F1C23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Clr>
                <a:srgbClr val="F1C232"/>
              </a:buClr>
              <a:buSzPts val="1400"/>
              <a:buFont typeface="Calibri"/>
              <a:buChar char="-"/>
            </a:pPr>
            <a:r>
              <a:rPr lang="en">
                <a:solidFill>
                  <a:srgbClr val="F1C232"/>
                </a:solidFill>
                <a:latin typeface="Calibri"/>
                <a:ea typeface="Calibri"/>
                <a:cs typeface="Calibri"/>
                <a:sym typeface="Calibri"/>
              </a:rPr>
              <a:t>&lt;div&gt;</a:t>
            </a:r>
            <a:endParaRPr>
              <a:solidFill>
                <a:srgbClr val="F1C23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Clr>
                <a:srgbClr val="F1C232"/>
              </a:buClr>
              <a:buSzPts val="1400"/>
              <a:buFont typeface="Calibri"/>
              <a:buChar char="-"/>
            </a:pPr>
            <a:r>
              <a:rPr lang="en">
                <a:solidFill>
                  <a:srgbClr val="F1C232"/>
                </a:solidFill>
                <a:latin typeface="Calibri"/>
                <a:ea typeface="Calibri"/>
                <a:cs typeface="Calibri"/>
                <a:sym typeface="Calibri"/>
              </a:rPr>
              <a:t>&lt;a&gt;</a:t>
            </a:r>
            <a:endParaRPr>
              <a:solidFill>
                <a:srgbClr val="F1C23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Clr>
                <a:srgbClr val="F1C232"/>
              </a:buClr>
              <a:buSzPts val="1400"/>
              <a:buFont typeface="Calibri"/>
              <a:buChar char="-"/>
            </a:pPr>
            <a:r>
              <a:rPr lang="en">
                <a:solidFill>
                  <a:srgbClr val="F1C232"/>
                </a:solidFill>
                <a:latin typeface="Calibri"/>
                <a:ea typeface="Calibri"/>
                <a:cs typeface="Calibri"/>
                <a:sym typeface="Calibri"/>
              </a:rPr>
              <a:t>&lt;li&gt;</a:t>
            </a:r>
            <a:endParaRPr>
              <a:solidFill>
                <a:srgbClr val="F1C23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Clr>
                <a:srgbClr val="F1C232"/>
              </a:buClr>
              <a:buSzPts val="1400"/>
              <a:buFont typeface="Calibri"/>
              <a:buChar char="-"/>
            </a:pPr>
            <a:r>
              <a:rPr lang="en">
                <a:solidFill>
                  <a:srgbClr val="F1C232"/>
                </a:solidFill>
                <a:latin typeface="Calibri"/>
                <a:ea typeface="Calibri"/>
                <a:cs typeface="Calibri"/>
                <a:sym typeface="Calibri"/>
              </a:rPr>
              <a:t>&lt;src&gt;</a:t>
            </a:r>
            <a:endParaRPr>
              <a:solidFill>
                <a:srgbClr val="F1C23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Clr>
                <a:srgbClr val="F1C232"/>
              </a:buClr>
              <a:buSzPts val="1400"/>
              <a:buFont typeface="Calibri"/>
              <a:buChar char="-"/>
            </a:pPr>
            <a:r>
              <a:rPr lang="en">
                <a:solidFill>
                  <a:srgbClr val="F1C232"/>
                </a:solidFill>
                <a:latin typeface="Calibri"/>
                <a:ea typeface="Calibri"/>
                <a:cs typeface="Calibri"/>
                <a:sym typeface="Calibri"/>
              </a:rPr>
              <a:t>&lt;img&gt;</a:t>
            </a:r>
            <a:endParaRPr>
              <a:solidFill>
                <a:srgbClr val="F1C23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Clr>
                <a:srgbClr val="F1C232"/>
              </a:buClr>
              <a:buSzPts val="1400"/>
              <a:buFont typeface="Calibri"/>
              <a:buChar char="-"/>
            </a:pPr>
            <a:r>
              <a:rPr lang="en">
                <a:solidFill>
                  <a:srgbClr val="F1C232"/>
                </a:solidFill>
                <a:latin typeface="Calibri"/>
                <a:ea typeface="Calibri"/>
                <a:cs typeface="Calibri"/>
                <a:sym typeface="Calibri"/>
              </a:rPr>
              <a:t>And many many more</a:t>
            </a:r>
            <a:endParaRPr>
              <a:solidFill>
                <a:srgbClr val="F1C23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F1C23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F1C23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F1C23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40"/>
          <p:cNvSpPr txBox="1"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</p:spPr>
        <p:txBody>
          <a:bodyPr spcFirstLastPara="1" wrap="square" lIns="68575" tIns="34275" rIns="68575" bIns="3427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1" name="Google Shape;321;p40"/>
          <p:cNvSpPr txBox="1"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700"/>
          </a:xfrm>
          <a:prstGeom prst="rect">
            <a:avLst/>
          </a:prstGeom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lvl="0" indent="0" algn="ctr" rtl="0">
              <a:spcBef>
                <a:spcPts val="80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2" name="Google Shape;322;p40"/>
          <p:cNvSpPr/>
          <p:nvPr/>
        </p:nvSpPr>
        <p:spPr>
          <a:xfrm>
            <a:off x="56775" y="0"/>
            <a:ext cx="9144000" cy="5143500"/>
          </a:xfrm>
          <a:prstGeom prst="rect">
            <a:avLst/>
          </a:prstGeom>
          <a:solidFill>
            <a:srgbClr val="3F3F3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Font typeface="Calibri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23" name="Google Shape;323;p4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200774" cy="5175436"/>
          </a:xfrm>
          <a:prstGeom prst="rect">
            <a:avLst/>
          </a:prstGeom>
          <a:noFill/>
          <a:ln>
            <a:noFill/>
          </a:ln>
        </p:spPr>
      </p:pic>
      <p:pic>
        <p:nvPicPr>
          <p:cNvPr id="324" name="Google Shape;324;p4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072651" y="4746387"/>
            <a:ext cx="1001477" cy="287535"/>
          </a:xfrm>
          <a:prstGeom prst="rect">
            <a:avLst/>
          </a:prstGeom>
          <a:noFill/>
          <a:ln>
            <a:noFill/>
          </a:ln>
        </p:spPr>
      </p:pic>
      <p:sp>
        <p:nvSpPr>
          <p:cNvPr id="325" name="Google Shape;325;p40"/>
          <p:cNvSpPr txBox="1"/>
          <p:nvPr/>
        </p:nvSpPr>
        <p:spPr>
          <a:xfrm>
            <a:off x="577725" y="302125"/>
            <a:ext cx="8412300" cy="80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Font typeface="Calibri"/>
              <a:buNone/>
            </a:pPr>
            <a:r>
              <a:rPr lang="en" sz="4500">
                <a:solidFill>
                  <a:srgbClr val="F1C232"/>
                </a:solidFill>
                <a:latin typeface="Calibri"/>
                <a:ea typeface="Calibri"/>
                <a:cs typeface="Calibri"/>
                <a:sym typeface="Calibri"/>
              </a:rPr>
              <a:t>Basic HTML</a:t>
            </a:r>
            <a:endParaRPr>
              <a:solidFill>
                <a:srgbClr val="F1C23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26" name="Google Shape;326;p4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51500" y="4586100"/>
            <a:ext cx="512625" cy="512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27" name="Google Shape;327;p4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48102" y="1110325"/>
            <a:ext cx="5702851" cy="3345526"/>
          </a:xfrm>
          <a:prstGeom prst="rect">
            <a:avLst/>
          </a:prstGeom>
          <a:noFill/>
          <a:ln>
            <a:noFill/>
          </a:ln>
        </p:spPr>
      </p:pic>
      <p:sp>
        <p:nvSpPr>
          <p:cNvPr id="328" name="Google Shape;328;p40"/>
          <p:cNvSpPr/>
          <p:nvPr/>
        </p:nvSpPr>
        <p:spPr>
          <a:xfrm>
            <a:off x="710625" y="1635300"/>
            <a:ext cx="8412300" cy="616500"/>
          </a:xfrm>
          <a:prstGeom prst="rect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9" name="Google Shape;329;p40"/>
          <p:cNvSpPr/>
          <p:nvPr/>
        </p:nvSpPr>
        <p:spPr>
          <a:xfrm>
            <a:off x="710625" y="2183188"/>
            <a:ext cx="8412300" cy="1058400"/>
          </a:xfrm>
          <a:prstGeom prst="rect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0" name="Google Shape;330;p40"/>
          <p:cNvSpPr/>
          <p:nvPr/>
        </p:nvSpPr>
        <p:spPr>
          <a:xfrm>
            <a:off x="710625" y="3321900"/>
            <a:ext cx="8412300" cy="556500"/>
          </a:xfrm>
          <a:prstGeom prst="rect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1" name="Google Shape;331;p40"/>
          <p:cNvSpPr txBox="1"/>
          <p:nvPr/>
        </p:nvSpPr>
        <p:spPr>
          <a:xfrm>
            <a:off x="6130225" y="1708975"/>
            <a:ext cx="2491500" cy="39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solidFill>
                  <a:schemeClr val="accent4"/>
                </a:solidFill>
                <a:latin typeface="Calibri"/>
                <a:ea typeface="Calibri"/>
                <a:cs typeface="Calibri"/>
                <a:sym typeface="Calibri"/>
              </a:rPr>
              <a:t>Header</a:t>
            </a:r>
            <a:endParaRPr sz="2100">
              <a:solidFill>
                <a:schemeClr val="accent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2" name="Google Shape;332;p40"/>
          <p:cNvSpPr txBox="1"/>
          <p:nvPr/>
        </p:nvSpPr>
        <p:spPr>
          <a:xfrm>
            <a:off x="6231250" y="2515425"/>
            <a:ext cx="2491500" cy="39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solidFill>
                  <a:schemeClr val="accent4"/>
                </a:solidFill>
                <a:latin typeface="Calibri"/>
                <a:ea typeface="Calibri"/>
                <a:cs typeface="Calibri"/>
                <a:sym typeface="Calibri"/>
              </a:rPr>
              <a:t>Body</a:t>
            </a:r>
            <a:endParaRPr sz="2100">
              <a:solidFill>
                <a:schemeClr val="accent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3" name="Google Shape;333;p40"/>
          <p:cNvSpPr txBox="1"/>
          <p:nvPr/>
        </p:nvSpPr>
        <p:spPr>
          <a:xfrm>
            <a:off x="6298050" y="3321925"/>
            <a:ext cx="2491500" cy="39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solidFill>
                  <a:schemeClr val="accent4"/>
                </a:solidFill>
                <a:latin typeface="Calibri"/>
                <a:ea typeface="Calibri"/>
                <a:cs typeface="Calibri"/>
                <a:sym typeface="Calibri"/>
              </a:rPr>
              <a:t>Footer</a:t>
            </a:r>
            <a:endParaRPr sz="2100">
              <a:solidFill>
                <a:schemeClr val="accent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p41"/>
          <p:cNvSpPr txBox="1"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</p:spPr>
        <p:txBody>
          <a:bodyPr spcFirstLastPara="1" wrap="square" lIns="68575" tIns="34275" rIns="68575" bIns="3427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9" name="Google Shape;339;p41"/>
          <p:cNvSpPr txBox="1"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700"/>
          </a:xfrm>
          <a:prstGeom prst="rect">
            <a:avLst/>
          </a:prstGeom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lvl="0" indent="0" algn="ctr" rtl="0">
              <a:spcBef>
                <a:spcPts val="80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0" name="Google Shape;340;p41"/>
          <p:cNvSpPr/>
          <p:nvPr/>
        </p:nvSpPr>
        <p:spPr>
          <a:xfrm>
            <a:off x="56775" y="0"/>
            <a:ext cx="9144000" cy="5143500"/>
          </a:xfrm>
          <a:prstGeom prst="rect">
            <a:avLst/>
          </a:prstGeom>
          <a:solidFill>
            <a:srgbClr val="3F3F3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Font typeface="Calibri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41" name="Google Shape;341;p4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200774" cy="5175436"/>
          </a:xfrm>
          <a:prstGeom prst="rect">
            <a:avLst/>
          </a:prstGeom>
          <a:noFill/>
          <a:ln>
            <a:noFill/>
          </a:ln>
        </p:spPr>
      </p:pic>
      <p:pic>
        <p:nvPicPr>
          <p:cNvPr id="342" name="Google Shape;342;p4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072651" y="4746387"/>
            <a:ext cx="1001477" cy="287535"/>
          </a:xfrm>
          <a:prstGeom prst="rect">
            <a:avLst/>
          </a:prstGeom>
          <a:noFill/>
          <a:ln>
            <a:noFill/>
          </a:ln>
        </p:spPr>
      </p:pic>
      <p:sp>
        <p:nvSpPr>
          <p:cNvPr id="343" name="Google Shape;343;p41"/>
          <p:cNvSpPr txBox="1"/>
          <p:nvPr/>
        </p:nvSpPr>
        <p:spPr>
          <a:xfrm>
            <a:off x="577725" y="302125"/>
            <a:ext cx="8412300" cy="80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Font typeface="Calibri"/>
              <a:buNone/>
            </a:pPr>
            <a:r>
              <a:rPr lang="en" sz="4500">
                <a:solidFill>
                  <a:srgbClr val="F1C232"/>
                </a:solidFill>
                <a:latin typeface="Calibri"/>
                <a:ea typeface="Calibri"/>
                <a:cs typeface="Calibri"/>
                <a:sym typeface="Calibri"/>
              </a:rPr>
              <a:t>Basic HTML</a:t>
            </a:r>
            <a:endParaRPr>
              <a:solidFill>
                <a:srgbClr val="F1C23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44" name="Google Shape;344;p4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51500" y="4586100"/>
            <a:ext cx="512625" cy="512625"/>
          </a:xfrm>
          <a:prstGeom prst="rect">
            <a:avLst/>
          </a:prstGeom>
          <a:noFill/>
          <a:ln>
            <a:noFill/>
          </a:ln>
        </p:spPr>
      </p:pic>
      <p:sp>
        <p:nvSpPr>
          <p:cNvPr id="345" name="Google Shape;345;p41"/>
          <p:cNvSpPr txBox="1"/>
          <p:nvPr/>
        </p:nvSpPr>
        <p:spPr>
          <a:xfrm>
            <a:off x="577725" y="1234725"/>
            <a:ext cx="8171100" cy="233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Clr>
                <a:srgbClr val="F1C232"/>
              </a:buClr>
              <a:buSzPts val="1400"/>
              <a:buFont typeface="Calibri"/>
              <a:buChar char="-"/>
            </a:pPr>
            <a:r>
              <a:rPr lang="en">
                <a:solidFill>
                  <a:srgbClr val="F1C232"/>
                </a:solidFill>
                <a:latin typeface="Calibri"/>
                <a:ea typeface="Calibri"/>
                <a:cs typeface="Calibri"/>
                <a:sym typeface="Calibri"/>
              </a:rPr>
              <a:t>HTML on its own is fairly dull</a:t>
            </a:r>
            <a:endParaRPr>
              <a:solidFill>
                <a:srgbClr val="F1C23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Clr>
                <a:srgbClr val="F1C232"/>
              </a:buClr>
              <a:buSzPts val="1400"/>
              <a:buFont typeface="Calibri"/>
              <a:buChar char="-"/>
            </a:pPr>
            <a:r>
              <a:rPr lang="en">
                <a:solidFill>
                  <a:srgbClr val="F1C232"/>
                </a:solidFill>
                <a:latin typeface="Calibri"/>
                <a:ea typeface="Calibri"/>
                <a:cs typeface="Calibri"/>
                <a:sym typeface="Calibri"/>
              </a:rPr>
              <a:t>Static</a:t>
            </a:r>
            <a:endParaRPr>
              <a:solidFill>
                <a:srgbClr val="F1C23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Clr>
                <a:srgbClr val="F1C232"/>
              </a:buClr>
              <a:buSzPts val="1400"/>
              <a:buFont typeface="Calibri"/>
              <a:buChar char="-"/>
            </a:pPr>
            <a:r>
              <a:rPr lang="en">
                <a:solidFill>
                  <a:srgbClr val="F1C232"/>
                </a:solidFill>
                <a:latin typeface="Calibri"/>
                <a:ea typeface="Calibri"/>
                <a:cs typeface="Calibri"/>
                <a:sym typeface="Calibri"/>
              </a:rPr>
              <a:t>No styling</a:t>
            </a:r>
            <a:endParaRPr>
              <a:solidFill>
                <a:srgbClr val="F1C23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Clr>
                <a:srgbClr val="F1C232"/>
              </a:buClr>
              <a:buSzPts val="1400"/>
              <a:buFont typeface="Calibri"/>
              <a:buChar char="-"/>
            </a:pPr>
            <a:r>
              <a:rPr lang="en">
                <a:solidFill>
                  <a:srgbClr val="F1C232"/>
                </a:solidFill>
                <a:latin typeface="Calibri"/>
                <a:ea typeface="Calibri"/>
                <a:cs typeface="Calibri"/>
                <a:sym typeface="Calibri"/>
              </a:rPr>
              <a:t>So smart people have invented even more languages you need to know</a:t>
            </a:r>
            <a:endParaRPr>
              <a:solidFill>
                <a:srgbClr val="F1C23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Clr>
                <a:srgbClr val="F1C232"/>
              </a:buClr>
              <a:buSzPts val="1400"/>
              <a:buFont typeface="Calibri"/>
              <a:buChar char="-"/>
            </a:pPr>
            <a:r>
              <a:rPr lang="en">
                <a:solidFill>
                  <a:srgbClr val="F1C232"/>
                </a:solidFill>
                <a:latin typeface="Calibri"/>
                <a:ea typeface="Calibri"/>
                <a:cs typeface="Calibri"/>
                <a:sym typeface="Calibri"/>
              </a:rPr>
              <a:t>CSS: Cascading Style Sheets</a:t>
            </a:r>
            <a:endParaRPr>
              <a:solidFill>
                <a:srgbClr val="F1C23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Clr>
                <a:srgbClr val="F1C232"/>
              </a:buClr>
              <a:buSzPts val="1400"/>
              <a:buFont typeface="Calibri"/>
              <a:buChar char="-"/>
            </a:pPr>
            <a:r>
              <a:rPr lang="en">
                <a:solidFill>
                  <a:srgbClr val="F1C232"/>
                </a:solidFill>
                <a:latin typeface="Calibri"/>
                <a:ea typeface="Calibri"/>
                <a:cs typeface="Calibri"/>
                <a:sym typeface="Calibri"/>
              </a:rPr>
              <a:t>JavaScript (JS)</a:t>
            </a:r>
            <a:endParaRPr>
              <a:solidFill>
                <a:srgbClr val="F1C23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Clr>
                <a:srgbClr val="F1C232"/>
              </a:buClr>
              <a:buSzPts val="1400"/>
              <a:buFont typeface="Calibri"/>
              <a:buChar char="-"/>
            </a:pPr>
            <a:r>
              <a:rPr lang="en">
                <a:solidFill>
                  <a:srgbClr val="F1C232"/>
                </a:solidFill>
                <a:latin typeface="Calibri"/>
                <a:ea typeface="Calibri"/>
                <a:cs typeface="Calibri"/>
                <a:sym typeface="Calibri"/>
              </a:rPr>
              <a:t>This makes the pages good-looking, dynamic and actually usable</a:t>
            </a:r>
            <a:endParaRPr>
              <a:solidFill>
                <a:srgbClr val="F1C23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F1C23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F1C23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F1C23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p42"/>
          <p:cNvSpPr txBox="1"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</p:spPr>
        <p:txBody>
          <a:bodyPr spcFirstLastPara="1" wrap="square" lIns="68575" tIns="34275" rIns="68575" bIns="3427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1" name="Google Shape;351;p42"/>
          <p:cNvSpPr txBox="1"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700"/>
          </a:xfrm>
          <a:prstGeom prst="rect">
            <a:avLst/>
          </a:prstGeom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lvl="0" indent="0" algn="ctr" rtl="0">
              <a:spcBef>
                <a:spcPts val="80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2" name="Google Shape;352;p42"/>
          <p:cNvSpPr/>
          <p:nvPr/>
        </p:nvSpPr>
        <p:spPr>
          <a:xfrm>
            <a:off x="56775" y="0"/>
            <a:ext cx="9144000" cy="5143500"/>
          </a:xfrm>
          <a:prstGeom prst="rect">
            <a:avLst/>
          </a:prstGeom>
          <a:solidFill>
            <a:srgbClr val="3F3F3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Font typeface="Calibri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53" name="Google Shape;353;p4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200774" cy="5175436"/>
          </a:xfrm>
          <a:prstGeom prst="rect">
            <a:avLst/>
          </a:prstGeom>
          <a:noFill/>
          <a:ln>
            <a:noFill/>
          </a:ln>
        </p:spPr>
      </p:pic>
      <p:pic>
        <p:nvPicPr>
          <p:cNvPr id="354" name="Google Shape;354;p4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072651" y="4746387"/>
            <a:ext cx="1001477" cy="287535"/>
          </a:xfrm>
          <a:prstGeom prst="rect">
            <a:avLst/>
          </a:prstGeom>
          <a:noFill/>
          <a:ln>
            <a:noFill/>
          </a:ln>
        </p:spPr>
      </p:pic>
      <p:sp>
        <p:nvSpPr>
          <p:cNvPr id="355" name="Google Shape;355;p42"/>
          <p:cNvSpPr txBox="1"/>
          <p:nvPr/>
        </p:nvSpPr>
        <p:spPr>
          <a:xfrm>
            <a:off x="577725" y="302125"/>
            <a:ext cx="8412300" cy="80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Font typeface="Calibri"/>
              <a:buNone/>
            </a:pPr>
            <a:r>
              <a:rPr lang="en" sz="4500">
                <a:solidFill>
                  <a:srgbClr val="F1C232"/>
                </a:solidFill>
                <a:latin typeface="Calibri"/>
                <a:ea typeface="Calibri"/>
                <a:cs typeface="Calibri"/>
                <a:sym typeface="Calibri"/>
              </a:rPr>
              <a:t>Bootstrap</a:t>
            </a:r>
            <a:endParaRPr>
              <a:solidFill>
                <a:srgbClr val="F1C23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56" name="Google Shape;356;p4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51500" y="4586100"/>
            <a:ext cx="512625" cy="512625"/>
          </a:xfrm>
          <a:prstGeom prst="rect">
            <a:avLst/>
          </a:prstGeom>
          <a:noFill/>
          <a:ln>
            <a:noFill/>
          </a:ln>
        </p:spPr>
      </p:pic>
      <p:sp>
        <p:nvSpPr>
          <p:cNvPr id="357" name="Google Shape;357;p42"/>
          <p:cNvSpPr txBox="1"/>
          <p:nvPr/>
        </p:nvSpPr>
        <p:spPr>
          <a:xfrm>
            <a:off x="577725" y="1234725"/>
            <a:ext cx="8171100" cy="169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Clr>
                <a:srgbClr val="F1C232"/>
              </a:buClr>
              <a:buSzPts val="1400"/>
              <a:buFont typeface="Calibri"/>
              <a:buChar char="-"/>
            </a:pPr>
            <a:r>
              <a:rPr lang="en">
                <a:solidFill>
                  <a:srgbClr val="F1C232"/>
                </a:solidFill>
                <a:latin typeface="Calibri"/>
                <a:ea typeface="Calibri"/>
                <a:cs typeface="Calibri"/>
                <a:sym typeface="Calibri"/>
              </a:rPr>
              <a:t>In it.gruppen we use Bootstrap as our styling library</a:t>
            </a:r>
            <a:endParaRPr>
              <a:solidFill>
                <a:srgbClr val="F1C23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Clr>
                <a:srgbClr val="F1C232"/>
              </a:buClr>
              <a:buSzPts val="1400"/>
              <a:buFont typeface="Calibri"/>
              <a:buChar char="-"/>
            </a:pPr>
            <a:r>
              <a:rPr lang="en">
                <a:solidFill>
                  <a:srgbClr val="F1C232"/>
                </a:solidFill>
                <a:latin typeface="Calibri"/>
                <a:ea typeface="Calibri"/>
                <a:cs typeface="Calibri"/>
                <a:sym typeface="Calibri"/>
              </a:rPr>
              <a:t>A styling library is pre-written CSS code</a:t>
            </a:r>
            <a:endParaRPr>
              <a:solidFill>
                <a:srgbClr val="F1C23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Clr>
                <a:srgbClr val="F1C232"/>
              </a:buClr>
              <a:buSzPts val="1400"/>
              <a:buFont typeface="Calibri"/>
              <a:buChar char="-"/>
            </a:pPr>
            <a:r>
              <a:rPr lang="en">
                <a:solidFill>
                  <a:srgbClr val="F1C232"/>
                </a:solidFill>
                <a:latin typeface="Calibri"/>
                <a:ea typeface="Calibri"/>
                <a:cs typeface="Calibri"/>
                <a:sym typeface="Calibri"/>
              </a:rPr>
              <a:t>This gives us piles of ready-made styling code, which makes us more efficient and gives our pages more uniform styling</a:t>
            </a:r>
            <a:endParaRPr>
              <a:solidFill>
                <a:srgbClr val="F1C23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F1C23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F1C23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F1C23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58" name="Google Shape;358;p42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29088" y="2385950"/>
            <a:ext cx="2428875" cy="1981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59" name="Google Shape;359;p42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5393915" y="2210350"/>
            <a:ext cx="2383936" cy="2332400"/>
          </a:xfrm>
          <a:prstGeom prst="rect">
            <a:avLst/>
          </a:prstGeom>
          <a:noFill/>
          <a:ln>
            <a:noFill/>
          </a:ln>
        </p:spPr>
      </p:pic>
      <p:sp>
        <p:nvSpPr>
          <p:cNvPr id="360" name="Google Shape;360;p42"/>
          <p:cNvSpPr/>
          <p:nvPr/>
        </p:nvSpPr>
        <p:spPr>
          <a:xfrm>
            <a:off x="3655900" y="3232850"/>
            <a:ext cx="1068600" cy="28740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p43"/>
          <p:cNvSpPr txBox="1"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</p:spPr>
        <p:txBody>
          <a:bodyPr spcFirstLastPara="1" wrap="square" lIns="68575" tIns="34275" rIns="68575" bIns="3427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6" name="Google Shape;366;p43"/>
          <p:cNvSpPr txBox="1"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700"/>
          </a:xfrm>
          <a:prstGeom prst="rect">
            <a:avLst/>
          </a:prstGeom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lvl="0" indent="0" algn="ctr" rtl="0">
              <a:spcBef>
                <a:spcPts val="80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7" name="Google Shape;367;p43"/>
          <p:cNvSpPr/>
          <p:nvPr/>
        </p:nvSpPr>
        <p:spPr>
          <a:xfrm>
            <a:off x="56775" y="0"/>
            <a:ext cx="9144000" cy="5143500"/>
          </a:xfrm>
          <a:prstGeom prst="rect">
            <a:avLst/>
          </a:prstGeom>
          <a:solidFill>
            <a:srgbClr val="3F3F3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Font typeface="Calibri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68" name="Google Shape;368;p4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200774" cy="5175436"/>
          </a:xfrm>
          <a:prstGeom prst="rect">
            <a:avLst/>
          </a:prstGeom>
          <a:noFill/>
          <a:ln>
            <a:noFill/>
          </a:ln>
        </p:spPr>
      </p:pic>
      <p:pic>
        <p:nvPicPr>
          <p:cNvPr id="369" name="Google Shape;369;p4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072651" y="4746387"/>
            <a:ext cx="1001477" cy="287535"/>
          </a:xfrm>
          <a:prstGeom prst="rect">
            <a:avLst/>
          </a:prstGeom>
          <a:noFill/>
          <a:ln>
            <a:noFill/>
          </a:ln>
        </p:spPr>
      </p:pic>
      <p:sp>
        <p:nvSpPr>
          <p:cNvPr id="370" name="Google Shape;370;p43"/>
          <p:cNvSpPr txBox="1"/>
          <p:nvPr/>
        </p:nvSpPr>
        <p:spPr>
          <a:xfrm>
            <a:off x="577725" y="302125"/>
            <a:ext cx="8412300" cy="80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Font typeface="Calibri"/>
              <a:buNone/>
            </a:pPr>
            <a:r>
              <a:rPr lang="en" sz="4500">
                <a:solidFill>
                  <a:srgbClr val="F1C232"/>
                </a:solidFill>
                <a:latin typeface="Calibri"/>
                <a:ea typeface="Calibri"/>
                <a:cs typeface="Calibri"/>
                <a:sym typeface="Calibri"/>
              </a:rPr>
              <a:t>Template handling</a:t>
            </a:r>
            <a:endParaRPr>
              <a:solidFill>
                <a:srgbClr val="F1C23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71" name="Google Shape;371;p4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51500" y="4586100"/>
            <a:ext cx="512625" cy="512625"/>
          </a:xfrm>
          <a:prstGeom prst="rect">
            <a:avLst/>
          </a:prstGeom>
          <a:noFill/>
          <a:ln>
            <a:noFill/>
          </a:ln>
        </p:spPr>
      </p:pic>
      <p:sp>
        <p:nvSpPr>
          <p:cNvPr id="372" name="Google Shape;372;p43"/>
          <p:cNvSpPr txBox="1"/>
          <p:nvPr/>
        </p:nvSpPr>
        <p:spPr>
          <a:xfrm>
            <a:off x="577725" y="1234725"/>
            <a:ext cx="8171100" cy="104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Clr>
                <a:srgbClr val="F1C232"/>
              </a:buClr>
              <a:buSzPts val="1400"/>
              <a:buFont typeface="Calibri"/>
              <a:buChar char="-"/>
            </a:pPr>
            <a:r>
              <a:rPr lang="en">
                <a:solidFill>
                  <a:srgbClr val="F1C232"/>
                </a:solidFill>
                <a:latin typeface="Calibri"/>
                <a:ea typeface="Calibri"/>
                <a:cs typeface="Calibri"/>
                <a:sym typeface="Calibri"/>
              </a:rPr>
              <a:t>Jinja lets us populate data from the back-end (python) into html.</a:t>
            </a:r>
            <a:endParaRPr>
              <a:solidFill>
                <a:srgbClr val="F1C23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F1C23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F1C23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F1C23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3" name="Google Shape;373;p43"/>
          <p:cNvSpPr txBox="1"/>
          <p:nvPr/>
        </p:nvSpPr>
        <p:spPr>
          <a:xfrm>
            <a:off x="151500" y="1717375"/>
            <a:ext cx="5025900" cy="78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 dirty="0">
                <a:solidFill>
                  <a:srgbClr val="DCDCAA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@</a:t>
            </a:r>
            <a:r>
              <a:rPr lang="en" sz="1050" dirty="0">
                <a:solidFill>
                  <a:srgbClr val="9CDCFE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app</a:t>
            </a:r>
            <a:r>
              <a:rPr lang="en" sz="1050" dirty="0">
                <a:solidFill>
                  <a:srgbClr val="DCDCAA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.route</a:t>
            </a:r>
            <a:r>
              <a:rPr lang="en" sz="1050" dirty="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" sz="1050" dirty="0">
                <a:solidFill>
                  <a:srgbClr val="CE9178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'/user/&lt;user&gt;'</a:t>
            </a:r>
            <a:r>
              <a:rPr lang="en" sz="1050" dirty="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sz="1050" dirty="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 dirty="0">
                <a:solidFill>
                  <a:srgbClr val="569CD6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def</a:t>
            </a:r>
            <a:r>
              <a:rPr lang="en" sz="1050" dirty="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50" dirty="0">
                <a:solidFill>
                  <a:srgbClr val="DCDCAA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user_profile</a:t>
            </a:r>
            <a:r>
              <a:rPr lang="en" sz="1050" dirty="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" sz="1050" dirty="0">
                <a:solidFill>
                  <a:srgbClr val="9CDCFE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user</a:t>
            </a:r>
            <a:r>
              <a:rPr lang="en" sz="1050" dirty="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):</a:t>
            </a:r>
            <a:endParaRPr sz="1050" dirty="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 dirty="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en" sz="1050" dirty="0">
                <a:solidFill>
                  <a:srgbClr val="C586C0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return</a:t>
            </a:r>
            <a:r>
              <a:rPr lang="en" sz="1050" dirty="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50" dirty="0">
                <a:solidFill>
                  <a:srgbClr val="DCDCAA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render_template</a:t>
            </a:r>
            <a:r>
              <a:rPr lang="en" sz="1050" dirty="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" sz="1050" dirty="0">
                <a:solidFill>
                  <a:srgbClr val="CE9178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'user.html'</a:t>
            </a:r>
            <a:r>
              <a:rPr lang="en" sz="1050" dirty="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en" sz="1050" dirty="0">
                <a:solidFill>
                  <a:srgbClr val="9CDCFE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user</a:t>
            </a:r>
            <a:r>
              <a:rPr lang="en" sz="1050" dirty="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en" sz="1050" dirty="0">
                <a:solidFill>
                  <a:srgbClr val="9CDCFE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user</a:t>
            </a:r>
            <a:r>
              <a:rPr lang="en" sz="1050" dirty="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sz="1050" dirty="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  <p:pic>
        <p:nvPicPr>
          <p:cNvPr id="374" name="Google Shape;374;p43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024049" y="1680103"/>
            <a:ext cx="5537775" cy="2906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p44"/>
          <p:cNvSpPr txBox="1"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</p:spPr>
        <p:txBody>
          <a:bodyPr spcFirstLastPara="1" wrap="square" lIns="68575" tIns="34275" rIns="68575" bIns="3427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0" name="Google Shape;380;p44"/>
          <p:cNvSpPr txBox="1"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700"/>
          </a:xfrm>
          <a:prstGeom prst="rect">
            <a:avLst/>
          </a:prstGeom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lvl="0" indent="0" algn="ctr" rtl="0">
              <a:spcBef>
                <a:spcPts val="80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1" name="Google Shape;381;p44"/>
          <p:cNvSpPr/>
          <p:nvPr/>
        </p:nvSpPr>
        <p:spPr>
          <a:xfrm>
            <a:off x="56775" y="0"/>
            <a:ext cx="9144000" cy="5143500"/>
          </a:xfrm>
          <a:prstGeom prst="rect">
            <a:avLst/>
          </a:prstGeom>
          <a:solidFill>
            <a:srgbClr val="3F3F3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Font typeface="Calibri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82" name="Google Shape;382;p4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200774" cy="5175436"/>
          </a:xfrm>
          <a:prstGeom prst="rect">
            <a:avLst/>
          </a:prstGeom>
          <a:noFill/>
          <a:ln>
            <a:noFill/>
          </a:ln>
        </p:spPr>
      </p:pic>
      <p:pic>
        <p:nvPicPr>
          <p:cNvPr id="383" name="Google Shape;383;p4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072651" y="4746387"/>
            <a:ext cx="1001477" cy="287535"/>
          </a:xfrm>
          <a:prstGeom prst="rect">
            <a:avLst/>
          </a:prstGeom>
          <a:noFill/>
          <a:ln>
            <a:noFill/>
          </a:ln>
        </p:spPr>
      </p:pic>
      <p:sp>
        <p:nvSpPr>
          <p:cNvPr id="384" name="Google Shape;384;p44"/>
          <p:cNvSpPr txBox="1"/>
          <p:nvPr/>
        </p:nvSpPr>
        <p:spPr>
          <a:xfrm>
            <a:off x="577725" y="302125"/>
            <a:ext cx="8412300" cy="80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Font typeface="Calibri"/>
              <a:buNone/>
            </a:pPr>
            <a:r>
              <a:rPr lang="en" sz="4500">
                <a:solidFill>
                  <a:srgbClr val="F1C232"/>
                </a:solidFill>
                <a:latin typeface="Calibri"/>
                <a:ea typeface="Calibri"/>
                <a:cs typeface="Calibri"/>
                <a:sym typeface="Calibri"/>
              </a:rPr>
              <a:t>Template handling</a:t>
            </a:r>
            <a:endParaRPr>
              <a:solidFill>
                <a:srgbClr val="F1C23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85" name="Google Shape;385;p4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51500" y="4586100"/>
            <a:ext cx="512625" cy="512625"/>
          </a:xfrm>
          <a:prstGeom prst="rect">
            <a:avLst/>
          </a:prstGeom>
          <a:noFill/>
          <a:ln>
            <a:noFill/>
          </a:ln>
        </p:spPr>
      </p:pic>
      <p:sp>
        <p:nvSpPr>
          <p:cNvPr id="386" name="Google Shape;386;p44"/>
          <p:cNvSpPr txBox="1"/>
          <p:nvPr/>
        </p:nvSpPr>
        <p:spPr>
          <a:xfrm>
            <a:off x="151500" y="1110325"/>
            <a:ext cx="3084900" cy="122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DCDCAA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@</a:t>
            </a:r>
            <a:r>
              <a:rPr lang="en" sz="1050">
                <a:solidFill>
                  <a:srgbClr val="9CDCFE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app</a:t>
            </a:r>
            <a:r>
              <a:rPr lang="en" sz="1050">
                <a:solidFill>
                  <a:srgbClr val="DCDCAA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.route</a:t>
            </a:r>
            <a:r>
              <a:rPr lang="en" sz="105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" sz="1050">
                <a:solidFill>
                  <a:srgbClr val="CE9178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'/user/&lt;user&gt;'</a:t>
            </a:r>
            <a:r>
              <a:rPr lang="en" sz="105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sz="105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569CD6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def</a:t>
            </a:r>
            <a:r>
              <a:rPr lang="en" sz="105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50">
                <a:solidFill>
                  <a:srgbClr val="DCDCAA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user_profile</a:t>
            </a:r>
            <a:r>
              <a:rPr lang="en" sz="105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" sz="1050">
                <a:solidFill>
                  <a:srgbClr val="9CDCFE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user</a:t>
            </a:r>
            <a:r>
              <a:rPr lang="en" sz="105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):</a:t>
            </a:r>
            <a:endParaRPr sz="105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en" sz="1050">
                <a:solidFill>
                  <a:srgbClr val="C586C0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return</a:t>
            </a:r>
            <a:r>
              <a:rPr lang="en" sz="105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50">
                <a:solidFill>
                  <a:srgbClr val="DCDCAA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render_template</a:t>
            </a:r>
            <a:r>
              <a:rPr lang="en" sz="105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" sz="1050">
                <a:solidFill>
                  <a:srgbClr val="CE9178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'user.html'</a:t>
            </a:r>
            <a:r>
              <a:rPr lang="en" sz="105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en" sz="1050">
                <a:solidFill>
                  <a:srgbClr val="9CDCFE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user</a:t>
            </a:r>
            <a:r>
              <a:rPr lang="en" sz="105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en" sz="1050">
                <a:solidFill>
                  <a:srgbClr val="9CDCFE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user</a:t>
            </a:r>
            <a:r>
              <a:rPr lang="en" sz="105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sz="105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  <p:pic>
        <p:nvPicPr>
          <p:cNvPr id="387" name="Google Shape;387;p44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619875" y="1063650"/>
            <a:ext cx="6409651" cy="336352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88" name="Google Shape;388;p44"/>
          <p:cNvCxnSpPr/>
          <p:nvPr/>
        </p:nvCxnSpPr>
        <p:spPr>
          <a:xfrm>
            <a:off x="770550" y="2268875"/>
            <a:ext cx="7260300" cy="1198800"/>
          </a:xfrm>
          <a:prstGeom prst="curvedConnector3">
            <a:avLst>
              <a:gd name="adj1" fmla="val 24175"/>
            </a:avLst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p45"/>
          <p:cNvSpPr txBox="1"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</p:spPr>
        <p:txBody>
          <a:bodyPr spcFirstLastPara="1" wrap="square" lIns="68575" tIns="34275" rIns="68575" bIns="3427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4" name="Google Shape;394;p45"/>
          <p:cNvSpPr txBox="1"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700"/>
          </a:xfrm>
          <a:prstGeom prst="rect">
            <a:avLst/>
          </a:prstGeom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lvl="0" indent="0" algn="ctr" rtl="0">
              <a:spcBef>
                <a:spcPts val="80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5" name="Google Shape;395;p45"/>
          <p:cNvSpPr/>
          <p:nvPr/>
        </p:nvSpPr>
        <p:spPr>
          <a:xfrm>
            <a:off x="56775" y="0"/>
            <a:ext cx="9144000" cy="5143500"/>
          </a:xfrm>
          <a:prstGeom prst="rect">
            <a:avLst/>
          </a:prstGeom>
          <a:solidFill>
            <a:srgbClr val="3F3F3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Font typeface="Calibri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96" name="Google Shape;396;p4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200774" cy="5175436"/>
          </a:xfrm>
          <a:prstGeom prst="rect">
            <a:avLst/>
          </a:prstGeom>
          <a:noFill/>
          <a:ln>
            <a:noFill/>
          </a:ln>
        </p:spPr>
      </p:pic>
      <p:pic>
        <p:nvPicPr>
          <p:cNvPr id="397" name="Google Shape;397;p4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072651" y="4746387"/>
            <a:ext cx="1001477" cy="287535"/>
          </a:xfrm>
          <a:prstGeom prst="rect">
            <a:avLst/>
          </a:prstGeom>
          <a:noFill/>
          <a:ln>
            <a:noFill/>
          </a:ln>
        </p:spPr>
      </p:pic>
      <p:sp>
        <p:nvSpPr>
          <p:cNvPr id="398" name="Google Shape;398;p45"/>
          <p:cNvSpPr txBox="1"/>
          <p:nvPr/>
        </p:nvSpPr>
        <p:spPr>
          <a:xfrm>
            <a:off x="577725" y="302125"/>
            <a:ext cx="8412300" cy="80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Font typeface="Calibri"/>
              <a:buNone/>
            </a:pPr>
            <a:r>
              <a:rPr lang="en" sz="4500">
                <a:solidFill>
                  <a:srgbClr val="F1C232"/>
                </a:solidFill>
                <a:latin typeface="Calibri"/>
                <a:ea typeface="Calibri"/>
                <a:cs typeface="Calibri"/>
                <a:sym typeface="Calibri"/>
              </a:rPr>
              <a:t>Template handling</a:t>
            </a:r>
            <a:endParaRPr>
              <a:solidFill>
                <a:srgbClr val="F1C23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99" name="Google Shape;399;p4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51500" y="4586100"/>
            <a:ext cx="512625" cy="512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00" name="Google Shape;400;p4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13738" y="1481449"/>
            <a:ext cx="8373300" cy="21806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01" name="Google Shape;401;p45"/>
          <p:cNvCxnSpPr/>
          <p:nvPr/>
        </p:nvCxnSpPr>
        <p:spPr>
          <a:xfrm>
            <a:off x="1695225" y="1720925"/>
            <a:ext cx="2294700" cy="1173000"/>
          </a:xfrm>
          <a:prstGeom prst="bentConnector3">
            <a:avLst>
              <a:gd name="adj1" fmla="val 50000"/>
            </a:avLst>
          </a:prstGeom>
          <a:noFill/>
          <a:ln w="28575" cap="flat" cmpd="sng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Google Shape;406;p46"/>
          <p:cNvSpPr txBox="1"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</p:spPr>
        <p:txBody>
          <a:bodyPr spcFirstLastPara="1" wrap="square" lIns="68575" tIns="34275" rIns="68575" bIns="3427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7" name="Google Shape;407;p46"/>
          <p:cNvSpPr txBox="1"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700"/>
          </a:xfrm>
          <a:prstGeom prst="rect">
            <a:avLst/>
          </a:prstGeom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lvl="0" indent="0" algn="ctr" rtl="0">
              <a:spcBef>
                <a:spcPts val="80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8" name="Google Shape;408;p46"/>
          <p:cNvSpPr/>
          <p:nvPr/>
        </p:nvSpPr>
        <p:spPr>
          <a:xfrm>
            <a:off x="56775" y="0"/>
            <a:ext cx="9144000" cy="5143500"/>
          </a:xfrm>
          <a:prstGeom prst="rect">
            <a:avLst/>
          </a:prstGeom>
          <a:solidFill>
            <a:srgbClr val="3F3F3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Font typeface="Calibri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09" name="Google Shape;409;p4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200774" cy="5175436"/>
          </a:xfrm>
          <a:prstGeom prst="rect">
            <a:avLst/>
          </a:prstGeom>
          <a:noFill/>
          <a:ln>
            <a:noFill/>
          </a:ln>
        </p:spPr>
      </p:pic>
      <p:pic>
        <p:nvPicPr>
          <p:cNvPr id="410" name="Google Shape;410;p4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072651" y="4746387"/>
            <a:ext cx="1001477" cy="287535"/>
          </a:xfrm>
          <a:prstGeom prst="rect">
            <a:avLst/>
          </a:prstGeom>
          <a:noFill/>
          <a:ln>
            <a:noFill/>
          </a:ln>
        </p:spPr>
      </p:pic>
      <p:sp>
        <p:nvSpPr>
          <p:cNvPr id="411" name="Google Shape;411;p46"/>
          <p:cNvSpPr txBox="1"/>
          <p:nvPr/>
        </p:nvSpPr>
        <p:spPr>
          <a:xfrm>
            <a:off x="3797588" y="2167650"/>
            <a:ext cx="1605600" cy="80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Font typeface="Calibri"/>
              <a:buNone/>
            </a:pPr>
            <a:r>
              <a:rPr lang="en" sz="4500">
                <a:solidFill>
                  <a:srgbClr val="F1C232"/>
                </a:solidFill>
                <a:latin typeface="Calibri"/>
                <a:ea typeface="Calibri"/>
                <a:cs typeface="Calibri"/>
                <a:sym typeface="Calibri"/>
              </a:rPr>
              <a:t>Demo</a:t>
            </a:r>
            <a:endParaRPr>
              <a:solidFill>
                <a:srgbClr val="F1C23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12" name="Google Shape;412;p4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51500" y="4586100"/>
            <a:ext cx="512625" cy="512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Google Shape;417;p47"/>
          <p:cNvSpPr txBox="1"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</p:spPr>
        <p:txBody>
          <a:bodyPr spcFirstLastPara="1" wrap="square" lIns="68575" tIns="34275" rIns="68575" bIns="3427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8" name="Google Shape;418;p47"/>
          <p:cNvSpPr txBox="1"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700"/>
          </a:xfrm>
          <a:prstGeom prst="rect">
            <a:avLst/>
          </a:prstGeom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lvl="0" indent="0" algn="ctr" rtl="0">
              <a:spcBef>
                <a:spcPts val="80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9" name="Google Shape;419;p47"/>
          <p:cNvSpPr/>
          <p:nvPr/>
        </p:nvSpPr>
        <p:spPr>
          <a:xfrm>
            <a:off x="56775" y="0"/>
            <a:ext cx="9144000" cy="5143500"/>
          </a:xfrm>
          <a:prstGeom prst="rect">
            <a:avLst/>
          </a:prstGeom>
          <a:solidFill>
            <a:srgbClr val="3F3F3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Font typeface="Calibri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20" name="Google Shape;420;p4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200774" cy="5175436"/>
          </a:xfrm>
          <a:prstGeom prst="rect">
            <a:avLst/>
          </a:prstGeom>
          <a:noFill/>
          <a:ln>
            <a:noFill/>
          </a:ln>
        </p:spPr>
      </p:pic>
      <p:pic>
        <p:nvPicPr>
          <p:cNvPr id="421" name="Google Shape;421;p4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072651" y="4746387"/>
            <a:ext cx="1001477" cy="287535"/>
          </a:xfrm>
          <a:prstGeom prst="rect">
            <a:avLst/>
          </a:prstGeom>
          <a:noFill/>
          <a:ln>
            <a:noFill/>
          </a:ln>
        </p:spPr>
      </p:pic>
      <p:sp>
        <p:nvSpPr>
          <p:cNvPr id="422" name="Google Shape;422;p47"/>
          <p:cNvSpPr txBox="1"/>
          <p:nvPr/>
        </p:nvSpPr>
        <p:spPr>
          <a:xfrm>
            <a:off x="1678538" y="2167650"/>
            <a:ext cx="5843700" cy="80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Font typeface="Calibri"/>
              <a:buNone/>
            </a:pPr>
            <a:r>
              <a:rPr lang="en" sz="4500">
                <a:solidFill>
                  <a:srgbClr val="F1C232"/>
                </a:solidFill>
                <a:latin typeface="Calibri"/>
                <a:ea typeface="Calibri"/>
                <a:cs typeface="Calibri"/>
                <a:sym typeface="Calibri"/>
              </a:rPr>
              <a:t>Exercise - Practice-flask</a:t>
            </a:r>
            <a:endParaRPr>
              <a:solidFill>
                <a:srgbClr val="F1C23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23" name="Google Shape;423;p4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51500" y="4586100"/>
            <a:ext cx="512625" cy="512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2505</Words>
  <Application>Microsoft Office PowerPoint</Application>
  <PresentationFormat>On-screen Show (16:9)</PresentationFormat>
  <Paragraphs>371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22</vt:i4>
      </vt:variant>
    </vt:vector>
  </HeadingPairs>
  <TitlesOfParts>
    <vt:vector size="28" baseType="lpstr">
      <vt:lpstr>Arial</vt:lpstr>
      <vt:lpstr>Calibri</vt:lpstr>
      <vt:lpstr>Courier New</vt:lpstr>
      <vt:lpstr>Times New Roman</vt:lpstr>
      <vt:lpstr>Simple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Kenan Viteskic</cp:lastModifiedBy>
  <cp:revision>2</cp:revision>
  <dcterms:modified xsi:type="dcterms:W3CDTF">2026-08-27T07:51:13Z</dcterms:modified>
</cp:coreProperties>
</file>