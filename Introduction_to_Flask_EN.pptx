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1" r:id="rId1"/>
    <p:sldMasterId id="2147483672" r:id="rId2"/>
  </p:sldMasterIdLst>
  <p:notesMasterIdLst>
    <p:notesMasterId r:id="rId2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11124F2-A59B-481F-90A4-E3CCEB1B5412}">
  <a:tblStyle styleId="{411124F2-A59B-481F-90A4-E3CCEB1B541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754" y="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d6bad852e9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d6bad852e9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Flask</a:t>
            </a:r>
          </a:p>
          <a:p>
            <a:r>
              <a:t>Av: Christian Eriksen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021306818b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021306818b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HØRA</a:t>
            </a:r>
          </a:p>
          <a:p>
            <a:endParaRPr/>
          </a:p>
          <a:p>
            <a:r>
              <a:t>H: Hensikt</a:t>
            </a:r>
          </a:p>
          <a:p>
            <a:r>
              <a:t>- Gi dere en grunnleggende introduksjon til en sentral del av web-development</a:t>
            </a:r>
          </a:p>
          <a:p>
            <a:r>
              <a:t>- Gi dere mulighet til å lære ved å gjøre selv</a:t>
            </a:r>
          </a:p>
          <a:p>
            <a:endParaRPr/>
          </a:p>
          <a:p>
            <a:r>
              <a:t>ØR: Ønsket Resultat</a:t>
            </a:r>
          </a:p>
          <a:p>
            <a:r>
              <a:t>- Dere skal kjenne til grunnleggende egenskaper ved flask</a:t>
            </a:r>
          </a:p>
          <a:p>
            <a:r>
              <a:t>- Dere skal kunne opprette routes</a:t>
            </a:r>
          </a:p>
          <a:p>
            <a:r>
              <a:t>- Dere skal kunne lage enkle html sider</a:t>
            </a:r>
          </a:p>
          <a:p>
            <a:endParaRPr/>
          </a:p>
          <a:p>
            <a:r>
              <a:t>A: Agenda →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d6bad852e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d6bad852e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Agenda</a:t>
            </a:r>
          </a:p>
          <a:p>
            <a:r>
              <a:t>01 Git Kahoot</a:t>
            </a:r>
          </a:p>
          <a:p>
            <a:r>
              <a:t>02 Planen fremover</a:t>
            </a:r>
          </a:p>
          <a:p>
            <a:r>
              <a:t>03 Hva er flask og hvorfor bruker vi det</a:t>
            </a:r>
          </a:p>
          <a:p>
            <a:r>
              <a:t>04 Grunnleggende flask og flask struktur</a:t>
            </a:r>
          </a:p>
          <a:p>
            <a:r>
              <a:t>05 Demo</a:t>
            </a:r>
          </a:p>
          <a:p>
            <a:r>
              <a:t>06 Praktisk oppgave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790b317462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790b317462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 err="1"/>
              <a:t>Planen</a:t>
            </a:r>
            <a:r>
              <a:rPr dirty="0"/>
              <a:t> </a:t>
            </a:r>
            <a:r>
              <a:rPr dirty="0" err="1"/>
              <a:t>fremover</a:t>
            </a:r>
            <a:endParaRPr dirty="0"/>
          </a:p>
          <a:p>
            <a:endParaRPr dirty="0"/>
          </a:p>
          <a:p>
            <a:r>
              <a:rPr dirty="0"/>
              <a:t>I </a:t>
            </a:r>
            <a:r>
              <a:rPr dirty="0" err="1"/>
              <a:t>dag</a:t>
            </a:r>
            <a:r>
              <a:rPr dirty="0"/>
              <a:t>: </a:t>
            </a:r>
            <a:r>
              <a:rPr dirty="0" err="1"/>
              <a:t>Introduksjonskurs</a:t>
            </a:r>
            <a:endParaRPr dirty="0"/>
          </a:p>
          <a:p>
            <a:r>
              <a:rPr dirty="0"/>
              <a:t>- </a:t>
            </a:r>
            <a:r>
              <a:rPr dirty="0" err="1"/>
              <a:t>Hensikt</a:t>
            </a:r>
            <a:r>
              <a:rPr dirty="0"/>
              <a:t>: Gi deg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innføring</a:t>
            </a:r>
            <a:endParaRPr dirty="0"/>
          </a:p>
          <a:p>
            <a:r>
              <a:rPr dirty="0" err="1"/>
              <a:t>Dypdykk</a:t>
            </a:r>
            <a:r>
              <a:rPr dirty="0"/>
              <a:t> 1: </a:t>
            </a:r>
            <a:r>
              <a:rPr dirty="0" err="1"/>
              <a:t>Kommunikasjon</a:t>
            </a:r>
            <a:endParaRPr dirty="0"/>
          </a:p>
          <a:p>
            <a:r>
              <a:rPr dirty="0"/>
              <a:t>- </a:t>
            </a:r>
            <a:r>
              <a:rPr dirty="0" err="1"/>
              <a:t>Hensikt</a:t>
            </a:r>
            <a:r>
              <a:rPr dirty="0"/>
              <a:t>: </a:t>
            </a:r>
            <a:r>
              <a:rPr dirty="0" err="1"/>
              <a:t>Lære</a:t>
            </a:r>
            <a:r>
              <a:rPr dirty="0"/>
              <a:t> deg å </a:t>
            </a:r>
            <a:r>
              <a:rPr dirty="0" err="1"/>
              <a:t>motta</a:t>
            </a:r>
            <a:r>
              <a:rPr dirty="0"/>
              <a:t> </a:t>
            </a:r>
            <a:r>
              <a:rPr dirty="0" err="1"/>
              <a:t>og</a:t>
            </a:r>
            <a:r>
              <a:rPr dirty="0"/>
              <a:t> </a:t>
            </a:r>
            <a:r>
              <a:rPr dirty="0" err="1"/>
              <a:t>sende</a:t>
            </a:r>
            <a:r>
              <a:rPr dirty="0"/>
              <a:t> data over </a:t>
            </a:r>
            <a:r>
              <a:rPr dirty="0" err="1"/>
              <a:t>nettet</a:t>
            </a:r>
            <a:endParaRPr dirty="0"/>
          </a:p>
          <a:p>
            <a:r>
              <a:rPr dirty="0" err="1"/>
              <a:t>Dypdykk</a:t>
            </a:r>
            <a:r>
              <a:rPr dirty="0"/>
              <a:t> 2: </a:t>
            </a:r>
            <a:r>
              <a:rPr dirty="0" err="1"/>
              <a:t>Databaser</a:t>
            </a:r>
            <a:endParaRPr dirty="0"/>
          </a:p>
          <a:p>
            <a:r>
              <a:rPr dirty="0"/>
              <a:t>- </a:t>
            </a:r>
            <a:r>
              <a:rPr dirty="0" err="1"/>
              <a:t>Hensikt</a:t>
            </a:r>
            <a:r>
              <a:rPr dirty="0"/>
              <a:t>: </a:t>
            </a:r>
            <a:r>
              <a:rPr dirty="0" err="1"/>
              <a:t>Lære</a:t>
            </a:r>
            <a:r>
              <a:rPr dirty="0"/>
              <a:t> deg å lese/</a:t>
            </a:r>
            <a:r>
              <a:rPr dirty="0" err="1"/>
              <a:t>skrive</a:t>
            </a:r>
            <a:r>
              <a:rPr dirty="0"/>
              <a:t> data </a:t>
            </a:r>
            <a:r>
              <a:rPr dirty="0" err="1"/>
              <a:t>fra</a:t>
            </a:r>
            <a:r>
              <a:rPr dirty="0"/>
              <a:t> </a:t>
            </a:r>
            <a:r>
              <a:rPr dirty="0" err="1"/>
              <a:t>databasen</a:t>
            </a:r>
            <a:endParaRPr dirty="0"/>
          </a:p>
          <a:p>
            <a:r>
              <a:rPr dirty="0" err="1"/>
              <a:t>Dypdykk</a:t>
            </a:r>
            <a:r>
              <a:rPr dirty="0"/>
              <a:t> 3: Design</a:t>
            </a:r>
          </a:p>
          <a:p>
            <a:r>
              <a:rPr dirty="0"/>
              <a:t>- </a:t>
            </a:r>
            <a:r>
              <a:rPr dirty="0" err="1"/>
              <a:t>Hensikt</a:t>
            </a:r>
            <a:r>
              <a:rPr dirty="0"/>
              <a:t>: </a:t>
            </a:r>
            <a:r>
              <a:rPr dirty="0" err="1"/>
              <a:t>Lære</a:t>
            </a:r>
            <a:r>
              <a:rPr dirty="0"/>
              <a:t> </a:t>
            </a:r>
            <a:r>
              <a:rPr dirty="0" err="1"/>
              <a:t>dere</a:t>
            </a:r>
            <a:r>
              <a:rPr dirty="0"/>
              <a:t> å </a:t>
            </a:r>
            <a:r>
              <a:rPr dirty="0" err="1"/>
              <a:t>lage</a:t>
            </a:r>
            <a:r>
              <a:rPr dirty="0"/>
              <a:t> </a:t>
            </a:r>
            <a:r>
              <a:rPr dirty="0" err="1"/>
              <a:t>pene</a:t>
            </a:r>
            <a:r>
              <a:rPr dirty="0"/>
              <a:t> </a:t>
            </a:r>
            <a:r>
              <a:rPr dirty="0" err="1"/>
              <a:t>nettsider</a:t>
            </a:r>
            <a:endParaRPr dirty="0"/>
          </a:p>
          <a:p>
            <a:endParaRPr dirty="0"/>
          </a:p>
          <a:p>
            <a:r>
              <a:rPr dirty="0"/>
              <a:t>Tanke: Vi </a:t>
            </a:r>
            <a:r>
              <a:rPr dirty="0" err="1"/>
              <a:t>skal</a:t>
            </a:r>
            <a:r>
              <a:rPr dirty="0"/>
              <a:t> </a:t>
            </a:r>
            <a:r>
              <a:rPr dirty="0" err="1"/>
              <a:t>bruke</a:t>
            </a:r>
            <a:r>
              <a:rPr dirty="0"/>
              <a:t> </a:t>
            </a:r>
            <a:r>
              <a:rPr dirty="0" err="1"/>
              <a:t>samme</a:t>
            </a:r>
            <a:r>
              <a:rPr dirty="0"/>
              <a:t> </a:t>
            </a:r>
            <a:r>
              <a:rPr dirty="0" err="1"/>
              <a:t>kodebase</a:t>
            </a:r>
            <a:r>
              <a:rPr dirty="0"/>
              <a:t> </a:t>
            </a:r>
            <a:r>
              <a:rPr dirty="0" err="1"/>
              <a:t>gjennom</a:t>
            </a:r>
            <a:r>
              <a:rPr dirty="0"/>
              <a:t> alle </a:t>
            </a:r>
            <a:r>
              <a:rPr dirty="0" err="1"/>
              <a:t>kursene</a:t>
            </a:r>
            <a:r>
              <a:rPr dirty="0"/>
              <a:t>, </a:t>
            </a:r>
            <a:r>
              <a:rPr dirty="0" err="1"/>
              <a:t>og</a:t>
            </a:r>
            <a:r>
              <a:rPr dirty="0"/>
              <a:t> </a:t>
            </a:r>
            <a:r>
              <a:rPr dirty="0" err="1"/>
              <a:t>resultatet</a:t>
            </a:r>
            <a:r>
              <a:rPr dirty="0"/>
              <a:t> </a:t>
            </a:r>
            <a:r>
              <a:rPr dirty="0" err="1"/>
              <a:t>skal</a:t>
            </a:r>
            <a:r>
              <a:rPr dirty="0"/>
              <a:t> </a:t>
            </a:r>
            <a:r>
              <a:rPr dirty="0" err="1"/>
              <a:t>være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LinkedIn cv lager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790b31746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790b31746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Hva er flask?</a:t>
            </a:r>
          </a:p>
          <a:p>
            <a:endParaRPr/>
          </a:p>
          <a:p>
            <a:r>
              <a:t>- Flask er et mikro web rammeverk skrevet i Python</a:t>
            </a:r>
          </a:p>
          <a:p>
            <a:r>
              <a:t>- Hva betyr mikro web rammeverk?</a:t>
            </a:r>
          </a:p>
          <a:p>
            <a:r>
              <a:t>  - Det dekker kun det essensielle</a:t>
            </a:r>
          </a:p>
          <a:p>
            <a:r>
              <a:t>    - Routing</a:t>
            </a:r>
          </a:p>
          <a:p>
            <a:r>
              <a:t>    - Request handling</a:t>
            </a:r>
          </a:p>
          <a:p>
            <a:r>
              <a:t>    - Template handling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790b317462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790b317462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Hvorfor bruker vi flask?</a:t>
            </a:r>
          </a:p>
          <a:p>
            <a:endParaRPr/>
          </a:p>
          <a:p>
            <a:r>
              <a:t>- Vi ønsker å gi dere kunnskaper dere kan bruke videre i livet</a:t>
            </a:r>
          </a:p>
          <a:p>
            <a:r>
              <a:t>  - Python er vesentlig mer brukervennlig for en siviløkonom enn f.eks. C#</a:t>
            </a:r>
          </a:p>
          <a:p>
            <a:r>
              <a:t>- Vi lager sider for NHHS</a:t>
            </a:r>
          </a:p>
          <a:p>
            <a:r>
              <a:t>  - Det er begrenset med hvor mye trafikk vi har</a:t>
            </a:r>
          </a:p>
          <a:p>
            <a:r>
              <a:t>  - Det er begrenset med hvor tung kompleksitet vi har</a:t>
            </a:r>
          </a:p>
          <a:p>
            <a:r>
              <a:t>  =&gt; Flask dekker behovene våre</a:t>
            </a:r>
          </a:p>
          <a:p>
            <a:r>
              <a:t>- Flask er veldig brukervennlig</a:t>
            </a:r>
          </a:p>
          <a:p>
            <a:r>
              <a:t>- Det er et rikt økosystem for flask</a:t>
            </a:r>
          </a:p>
          <a:p>
            <a:r>
              <a:t>  - Folk har laget "pakker" for alt det flask mangler</a:t>
            </a:r>
          </a:p>
          <a:p>
            <a:r>
              <a:t>  =&gt; Dette gjør flask ganske komplett likevel</a:t>
            </a:r>
          </a:p>
          <a:p>
            <a:endParaRPr/>
          </a:p>
          <a:p>
            <a:r>
              <a:t>MAO: Det er ikke vits å skyte spurv med kanon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790b317462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790b317462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Enkel flask application</a:t>
            </a:r>
          </a:p>
          <a:p>
            <a:endParaRPr/>
          </a:p>
          <a:p>
            <a:r>
              <a:t>Gjennomgang av koden linje for linje:</a:t>
            </a:r>
          </a:p>
          <a:p>
            <a:r>
              <a:t>- from flask import ... henter inn det vi trenger</a:t>
            </a:r>
          </a:p>
          <a:p>
            <a:r>
              <a:t>- app = Flask(__name__) oppretter selve applikasjonen</a:t>
            </a:r>
          </a:p>
          <a:p>
            <a:r>
              <a:t>- @app.route('/') kobler URL-en til funksjonen under</a:t>
            </a:r>
          </a:p>
          <a:p>
            <a:r>
              <a:t>- render_template('index.html') bygger og returnerer HTML-siden</a:t>
            </a:r>
          </a:p>
          <a:p>
            <a:r>
              <a:t>- app.run(debug=True) starter utviklingsserveren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790b317462_0_3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790b317462_0_3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Hvordan kjøre/starte en flask app</a:t>
            </a:r>
          </a:p>
          <a:p>
            <a:endParaRPr/>
          </a:p>
          <a:p>
            <a:r>
              <a:t>- Du må ha filstien i terminalen på samme sted som app.py</a:t>
            </a:r>
          </a:p>
          <a:p>
            <a:r>
              <a:t>  - Det betyr som regel at du må skrive "cd app" først</a:t>
            </a:r>
          </a:p>
          <a:p>
            <a:r>
              <a:t>  - Dette betyr "change directory to app"</a:t>
            </a:r>
          </a:p>
          <a:p>
            <a:r>
              <a:t>- Mac: python3 app.py</a:t>
            </a:r>
          </a:p>
          <a:p>
            <a:r>
              <a:t>- Windows: py app.py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790b317462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790b317462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Routing i flask</a:t>
            </a:r>
          </a:p>
          <a:p>
            <a:endParaRPr/>
          </a:p>
          <a:p>
            <a:r>
              <a:t>- Routing er en metode å koble en url (hva du skriver inn i nettleseren) til en funksjon i Python</a:t>
            </a:r>
          </a:p>
          <a:p>
            <a:r>
              <a:t>- Hver side (url) har sin egen funksjon i Python som returnerer en template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790b317462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790b317462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Routing i flask - variabler i route</a:t>
            </a:r>
          </a:p>
          <a:p>
            <a:endParaRPr/>
          </a:p>
          <a:p>
            <a:r>
              <a:t>- Det går an å ha variabler i en route</a:t>
            </a:r>
          </a:p>
          <a:p>
            <a:r>
              <a:t>- Dette gjør at du slipper å lage uendelig mange routes for samme type side</a:t>
            </a:r>
          </a:p>
          <a:p>
            <a:r>
              <a:t>- Tenk: Alle nyheter på vg.no har samme layout</a:t>
            </a:r>
          </a:p>
          <a:p>
            <a:r>
              <a:t>  - Overskrift</a:t>
            </a:r>
          </a:p>
          <a:p>
            <a:r>
              <a:t>  - Bilde</a:t>
            </a:r>
          </a:p>
          <a:p>
            <a:r>
              <a:t>  - Dato og forfatter</a:t>
            </a:r>
          </a:p>
          <a:p>
            <a:r>
              <a:t>  - Selve nyheten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790b31746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790b31746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Routing i flask - request handling</a:t>
            </a:r>
          </a:p>
          <a:p>
            <a:endParaRPr/>
          </a:p>
          <a:p>
            <a:r>
              <a:t>- I web development finnes det ulike metoder</a:t>
            </a:r>
          </a:p>
          <a:p>
            <a:r>
              <a:t>  - GET, POST, PUT, PATCH, DELETE</a:t>
            </a:r>
          </a:p>
          <a:p>
            <a:r>
              <a:t>  - Ofte kalt CRUD innenfor REST API-verden</a:t>
            </a:r>
          </a:p>
          <a:p>
            <a:r>
              <a:t>- Ulike metoder brukes ved ulike operasjoner:</a:t>
            </a:r>
          </a:p>
          <a:p>
            <a:r>
              <a:t>  - GET -&gt; Kan jeg få denne informasjonen</a:t>
            </a:r>
          </a:p>
          <a:p>
            <a:r>
              <a:t>  - POST -&gt; Jeg gir deg denne informasjonen, kan du lagre den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790b317462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790b317462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Filstruktur i et flask prosjekt</a:t>
            </a:r>
          </a:p>
          <a:p>
            <a:endParaRPr/>
          </a:p>
          <a:p>
            <a:r>
              <a:t>Folder: app</a:t>
            </a:r>
          </a:p>
          <a:p>
            <a:r>
              <a:t>  Folder: static</a:t>
            </a:r>
          </a:p>
          <a:p>
            <a:r>
              <a:t>    style.css -&gt; Styling</a:t>
            </a:r>
          </a:p>
          <a:p>
            <a:r>
              <a:t>    customScript.js -&gt; Custom JavaScript-kode</a:t>
            </a:r>
          </a:p>
          <a:p>
            <a:r>
              <a:t>    Folder: images -&gt; bilder</a:t>
            </a:r>
          </a:p>
          <a:p>
            <a:r>
              <a:t>  Folder: templates -&gt; De ulike sidene</a:t>
            </a:r>
          </a:p>
          <a:p>
            <a:r>
              <a:t>  app.py -&gt; Hovedkoden</a:t>
            </a:r>
          </a:p>
          <a:p>
            <a:r>
              <a:t>  config.py -&gt; Konfigurasjon av applikasjonen</a:t>
            </a:r>
          </a:p>
          <a:p>
            <a:r>
              <a:t>  models.py -&gt; Databaseskjemaer</a:t>
            </a:r>
          </a:p>
          <a:p>
            <a:r>
              <a:t>.gitignore: Filer Git skal ignorere</a:t>
            </a:r>
          </a:p>
          <a:p>
            <a:r>
              <a:t>Readme.md: Informasjon om applikasjonen</a:t>
            </a:r>
          </a:p>
          <a:p>
            <a:r>
              <a:t>Dockerfile: Docker-instruksjoner</a:t>
            </a:r>
          </a:p>
          <a:p>
            <a:r>
              <a:t>.env -&gt; Miljøvariabler</a:t>
            </a:r>
          </a:p>
          <a:p>
            <a:r>
              <a:t>.venv -&gt; Virtuelt miljø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790b317462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790b317462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Template handling</a:t>
            </a:r>
          </a:p>
          <a:p>
            <a:endParaRPr/>
          </a:p>
          <a:p>
            <a:r>
              <a:t>- Flask bruker noe som heter server-side rendering</a:t>
            </a:r>
          </a:p>
          <a:p>
            <a:r>
              <a:t>  - Vi lager sidene (html-dokumenter) på serveren, også sender vi dem til klienten (nettleseren)</a:t>
            </a:r>
          </a:p>
          <a:p>
            <a:r>
              <a:t>- Dette betyr at hver side har sitt eget .html-dokument</a:t>
            </a:r>
          </a:p>
          <a:p>
            <a:r>
              <a:t>- Flask bruker videre noe som heter Jinja2 som template engine</a:t>
            </a:r>
          </a:p>
          <a:p>
            <a:r>
              <a:t>  - Dette gir oss en god del muligheter</a:t>
            </a:r>
          </a:p>
          <a:p>
            <a:r>
              <a:t>- Som dere kanskje har sett, så returnerer hver route nesten den samme linjen</a:t>
            </a:r>
          </a:p>
          <a:p>
            <a:r>
              <a:t>  return render_template('&lt;file&gt;.html')</a:t>
            </a:r>
          </a:p>
          <a:p>
            <a:r>
              <a:t>- Dette er det som skaper selve nettsiden som dere ser i nettleseren</a:t>
            </a:r>
          </a:p>
          <a:p>
            <a:endParaRPr/>
          </a:p>
          <a:p>
            <a:r>
              <a:t>Poeng å få frem muntlig: Jinja kjører PÅ SERVEREN. Nettleseren ser aldri {{ }}, den får ferdig HTML.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90b317462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90b317462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Basic HTML</a:t>
            </a:r>
          </a:p>
          <a:p>
            <a:endParaRPr/>
          </a:p>
          <a:p>
            <a:r>
              <a:t>- HTML: Hyper text markup language</a:t>
            </a:r>
          </a:p>
          <a:p>
            <a:r>
              <a:t>- Brukes for å lage nettsider</a:t>
            </a:r>
          </a:p>
          <a:p>
            <a:r>
              <a:t>- Består av to hoveddeler</a:t>
            </a:r>
          </a:p>
          <a:p>
            <a:r>
              <a:t>  - &lt;head&gt; - metadata, tittel, lenker til CSS</a:t>
            </a:r>
          </a:p>
          <a:p>
            <a:r>
              <a:t>  - &lt;body&gt; - alt brukeren faktisk ser</a:t>
            </a:r>
          </a:p>
          <a:p>
            <a:r>
              <a:t>  - &lt;header&gt; og &lt;footer&gt; er layout-elementer INNE i &lt;body&gt;</a:t>
            </a:r>
          </a:p>
          <a:p>
            <a:r>
              <a:t>- Hvert element i et html-dokument innkapsles av &lt;tags&gt;. Vi har f.eks:</a:t>
            </a:r>
          </a:p>
          <a:p>
            <a:r>
              <a:t>  &lt;div&gt;, &lt;a&gt;, &lt;li&gt;, &lt;src&gt;, &lt;img&gt;</a:t>
            </a:r>
          </a:p>
          <a:p>
            <a:r>
              <a:t>- Og mange mange flere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790b317462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790b317462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Basic HTML - visuell inndeling av en side</a:t>
            </a:r>
          </a:p>
          <a:p>
            <a:endParaRPr/>
          </a:p>
          <a:p>
            <a:r>
              <a:t>Header øverst, body i midten, footer nederst.</a:t>
            </a:r>
          </a:p>
          <a:p>
            <a:r>
              <a:t>NB: dette er den visuelle inndelingen av siden, ikke det samme som &lt;head&gt; og &lt;body&gt; i dokumentet.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790b317462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3790b317462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Basic HTML</a:t>
            </a:r>
          </a:p>
          <a:p>
            <a:endParaRPr/>
          </a:p>
          <a:p>
            <a:r>
              <a:t>- HTML i seg selv er ganske traust</a:t>
            </a:r>
          </a:p>
          <a:p>
            <a:r>
              <a:t>  - Statisk</a:t>
            </a:r>
          </a:p>
          <a:p>
            <a:r>
              <a:t>  - Ingen styling</a:t>
            </a:r>
          </a:p>
          <a:p>
            <a:r>
              <a:t>- Derfor har smarte folk laget enda flere språk dere må kunne</a:t>
            </a:r>
          </a:p>
          <a:p>
            <a:r>
              <a:t>  - CSS: Cascading Style Sheets</a:t>
            </a:r>
          </a:p>
          <a:p>
            <a:r>
              <a:t>  - JavaScript (JS)</a:t>
            </a:r>
          </a:p>
          <a:p>
            <a:r>
              <a:t>- Dette gjør sidene pene, dynamiske og faktisk brukbare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90b317462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90b317462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Bootstrap</a:t>
            </a:r>
          </a:p>
          <a:p>
            <a:endParaRPr/>
          </a:p>
          <a:p>
            <a:r>
              <a:t>- I it.gruppen bruker vi Bootstrap som styling-bibliotek</a:t>
            </a:r>
          </a:p>
          <a:p>
            <a:r>
              <a:t>- Et styling-bibliotek er ferdigskrevet CSS-kode</a:t>
            </a:r>
          </a:p>
          <a:p>
            <a:r>
              <a:t>- Dette gir oss haugevis med ferdigskrevet styling-kode som gjør at vi blir mer effektive, samt får mer uniform styling på sidene våre</a:t>
            </a:r>
          </a:p>
          <a:p>
            <a:endParaRPr/>
          </a:p>
          <a:p>
            <a:r>
              <a:t>Bildet viser samme skjema uten og med Bootstrap.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90b3174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790b3174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Template handling - Jinja</a:t>
            </a:r>
          </a:p>
          <a:p>
            <a:endParaRPr/>
          </a:p>
          <a:p>
            <a:r>
              <a:t>- Jinja gir oss mulighet til å populere data fra back-end (python) inn i html</a:t>
            </a:r>
          </a:p>
          <a:p>
            <a:endParaRPr/>
          </a:p>
          <a:p>
            <a:r>
              <a:t>Peke på {{ user }} i HTML-en til høyre og koble den til user=user i render_template.</a:t>
            </a:r>
          </a:p>
          <a:p>
            <a:endParaRPr/>
          </a:p>
          <a:p>
            <a:r>
              <a:t>Muntlig tillegg:</a:t>
            </a:r>
          </a:p>
          <a:p>
            <a:r>
              <a:t>- {{ }} = vis en verdi, {% %} = kjør logikk (if, for, extends, block), {# #} = kommentar</a:t>
            </a:r>
          </a:p>
          <a:p>
            <a:r>
              <a:t>- Alt du sender som keyword-argument i render_template blir tilgjengelig i templaten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790b317462_0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790b317462_0_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Template handling - hele kjeden</a:t>
            </a:r>
          </a:p>
          <a:p>
            <a:endParaRPr/>
          </a:p>
          <a:p>
            <a:r>
              <a:t>Den røde streken viser veien: &lt;user&gt; i URL-en -&gt; argument til funksjonen -&gt; user=user i render_template -&gt; {{ user }} i HTML-en.</a:t>
            </a:r>
          </a:p>
          <a:p>
            <a:endParaRPr/>
          </a:p>
          <a:p>
            <a:r>
              <a:t>Spørsmål å stille gruppa: hvilken av de tre "user"-ene kan vi fjerne uten at siden slutter å virke?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90b317462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90b317462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Template handling - resultatet i nettleseren</a:t>
            </a:r>
          </a:p>
          <a:p>
            <a:endParaRPr/>
          </a:p>
          <a:p>
            <a:r>
              <a:t>localhost:5000/user/christian gir "Username: christian".</a:t>
            </a:r>
          </a:p>
          <a:p>
            <a:endParaRPr/>
          </a:p>
          <a:p>
            <a:r>
              <a:t>Poeng: høyreklikk -&gt; vis kildekode. Der står det "christian", ikke {{ user }}. Det er server-side rendering i praksis.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790b317462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790b317462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Demo</a:t>
            </a:r>
          </a:p>
          <a:p>
            <a:endParaRPr/>
          </a:p>
          <a:p>
            <a:r>
              <a:t>Live-koding: opprett app.py, lag en route, lag en template, kjør appen, vis resultatet i nettleseren.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b1357c1be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b1357c1be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Oppgave - Practice-flask</a:t>
            </a:r>
          </a:p>
          <a:p>
            <a:endParaRPr/>
          </a:p>
          <a:p>
            <a:r>
              <a:t>Del ut repo-lenken. Forklar hint-systemet: hint-knappen nede i hjørnet, tre hint per oppgave, deretter løsning.</a:t>
            </a:r>
          </a:p>
          <a:p>
            <a:r>
              <a:t>Hint 1 = for dere som kan Python men ikke Flask. Hint 2 = for dere som kan litt. Hint 3 = for dere som aldri har kodet.</a:t>
            </a:r>
          </a:p>
          <a:p>
            <a:r>
              <a:t>Oppfordre til å prøve selv i noen minutter før man åpner hint.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0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810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0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2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127" name="Google Shape;127;p2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2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2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61950" rtl="0"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2900" rtl="0"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23850" rtl="0">
              <a:spcBef>
                <a:spcPts val="4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26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8225" y="-15950"/>
            <a:ext cx="9257376" cy="5175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6"/>
          <p:cNvSpPr txBox="1"/>
          <p:nvPr/>
        </p:nvSpPr>
        <p:spPr>
          <a:xfrm>
            <a:off x="3840325" y="1555950"/>
            <a:ext cx="47628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800" b="1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Flask</a:t>
            </a:r>
            <a:endParaRPr sz="4800" b="1">
              <a:solidFill>
                <a:srgbClr val="F1C23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2" name="Google Shape;142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7975" y="1169650"/>
            <a:ext cx="2804225" cy="2804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6"/>
          <p:cNvSpPr txBox="1"/>
          <p:nvPr/>
        </p:nvSpPr>
        <p:spPr>
          <a:xfrm>
            <a:off x="3840325" y="2477250"/>
            <a:ext cx="2888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GB" sz="2200" dirty="0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By:  ̶</a:t>
            </a:r>
            <a:r>
              <a:rPr lang="en-GB" sz="2200" dirty="0" err="1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C̶h̶r̶i̶s̶t̶i̶a̶n</a:t>
            </a:r>
            <a:r>
              <a:rPr lang="en-GB" sz="2200" dirty="0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̶ ̶</a:t>
            </a:r>
            <a:r>
              <a:rPr lang="en-GB" sz="2200" dirty="0" err="1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E̶r̶i̶k̶s̶e̶n</a:t>
            </a:r>
            <a:r>
              <a:rPr lang="en-GB" sz="2200" dirty="0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̶</a:t>
            </a:r>
            <a:endParaRPr sz="2200" dirty="0">
              <a:solidFill>
                <a:srgbClr val="F1C23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43;p26">
            <a:extLst>
              <a:ext uri="{FF2B5EF4-FFF2-40B4-BE49-F238E27FC236}">
                <a16:creationId xmlns:a16="http://schemas.microsoft.com/office/drawing/2014/main" id="{C85AC3D0-1330-8F45-EE6F-7D04FDD65466}"/>
              </a:ext>
            </a:extLst>
          </p:cNvPr>
          <p:cNvSpPr txBox="1"/>
          <p:nvPr/>
        </p:nvSpPr>
        <p:spPr>
          <a:xfrm>
            <a:off x="3850828" y="2791183"/>
            <a:ext cx="4032559" cy="523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GB" sz="22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Kenan Viteskic</a:t>
            </a:r>
            <a:endParaRPr sz="2200" dirty="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143;p26">
            <a:extLst>
              <a:ext uri="{FF2B5EF4-FFF2-40B4-BE49-F238E27FC236}">
                <a16:creationId xmlns:a16="http://schemas.microsoft.com/office/drawing/2014/main" id="{17BE4165-F810-B6A7-553B-6A8CCCCAC683}"/>
              </a:ext>
            </a:extLst>
          </p:cNvPr>
          <p:cNvSpPr txBox="1"/>
          <p:nvPr/>
        </p:nvSpPr>
        <p:spPr>
          <a:xfrm>
            <a:off x="3841379" y="2199675"/>
            <a:ext cx="2888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GB" sz="22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Plagiarized</a:t>
            </a:r>
            <a:endParaRPr sz="2200" dirty="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7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7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7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PDA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7"/>
          <p:cNvSpPr txBox="1"/>
          <p:nvPr/>
        </p:nvSpPr>
        <p:spPr>
          <a:xfrm>
            <a:off x="577725" y="1234725"/>
            <a:ext cx="8171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7"/>
          <p:cNvSpPr txBox="1"/>
          <p:nvPr/>
        </p:nvSpPr>
        <p:spPr>
          <a:xfrm>
            <a:off x="577725" y="1234725"/>
            <a:ext cx="8171100" cy="29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P: Purpose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Give you a basic introduction to a central part of web development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Give you the chance to learn by doing it yourself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DR: Desired Result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should know the basic features of 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should be able to create routes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should be able to build simple html pages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A:Agenda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8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8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8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7" name="Google Shape;167;p28"/>
          <p:cNvGraphicFramePr/>
          <p:nvPr>
            <p:extLst>
              <p:ext uri="{D42A27DB-BD31-4B8C-83A1-F6EECF244321}">
                <p14:modId xmlns:p14="http://schemas.microsoft.com/office/powerpoint/2010/main" val="2302099371"/>
              </p:ext>
            </p:extLst>
          </p:nvPr>
        </p:nvGraphicFramePr>
        <p:xfrm>
          <a:off x="577725" y="1382875"/>
          <a:ext cx="7785800" cy="2750000"/>
        </p:xfrm>
        <a:graphic>
          <a:graphicData uri="http://schemas.openxmlformats.org/drawingml/2006/table">
            <a:tbl>
              <a:tblPr>
                <a:noFill/>
                <a:tableStyleId>{411124F2-A59B-481F-90A4-E3CCEB1B5412}</a:tableStyleId>
              </a:tblPr>
              <a:tblGrid>
                <a:gridCol w="72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100" dirty="0">
                          <a:solidFill>
                            <a:srgbClr val="F1C232"/>
                          </a:solidFill>
                        </a:rPr>
                        <a:t>01</a:t>
                      </a:r>
                      <a:endParaRPr sz="2100" dirty="0">
                        <a:solidFill>
                          <a:srgbClr val="F1C23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rgbClr val="F1C232"/>
                          </a:solidFill>
                        </a:rPr>
                        <a:t>The plan going forward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100" dirty="0">
                          <a:solidFill>
                            <a:srgbClr val="F1C232"/>
                          </a:solidFill>
                        </a:rPr>
                        <a:t>02</a:t>
                      </a:r>
                      <a:endParaRPr sz="2100" dirty="0">
                        <a:solidFill>
                          <a:srgbClr val="F1C23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rgbClr val="F1C232"/>
                          </a:solidFill>
                        </a:rPr>
                        <a:t>What flask is and why we use it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rgbClr val="F1C232"/>
                          </a:solidFill>
                        </a:rPr>
                        <a:t>03</a:t>
                      </a:r>
                      <a:endParaRPr sz="2000"/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rgbClr val="F1C232"/>
                          </a:solidFill>
                        </a:rPr>
                        <a:t>Flask basics and flask structure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100">
                          <a:solidFill>
                            <a:srgbClr val="F1C232"/>
                          </a:solidFill>
                        </a:rPr>
                        <a:t>04</a:t>
                      </a:r>
                      <a:endParaRPr sz="2100"/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64008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rgbClr val="F1C232"/>
                          </a:solidFill>
                        </a:rPr>
                        <a:t>Demo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100">
                          <a:solidFill>
                            <a:srgbClr val="F1C232"/>
                          </a:solidFill>
                        </a:rPr>
                        <a:t>05</a:t>
                      </a:r>
                      <a:endParaRPr sz="2100">
                        <a:solidFill>
                          <a:srgbClr val="F1C232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64008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rgbClr val="F1C232"/>
                          </a:solidFill>
                        </a:rPr>
                        <a:t>Hands-on exercise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68" name="Google Shape;168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29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9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9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The plan going forward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9"/>
          <p:cNvSpPr txBox="1"/>
          <p:nvPr/>
        </p:nvSpPr>
        <p:spPr>
          <a:xfrm>
            <a:off x="577725" y="1234725"/>
            <a:ext cx="8171100" cy="2985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Today: Introductory course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Give you an introduction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Workshop 1: Communication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Teach you to receive and send data over the network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Workshop 2: Databases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Teach you to read/write data from the database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Workshop 3: Javascript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Teach you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how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add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functionality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your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website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with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JS</a:t>
            </a:r>
          </a:p>
          <a:p>
            <a:pPr marL="457200" lvl="0" indent="-317500"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Workshop 4: AI</a:t>
            </a:r>
          </a:p>
          <a:p>
            <a:pPr marL="914400" lvl="1" indent="-317500"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Teach you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how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AI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coding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agents to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their</a:t>
            </a:r>
            <a:r>
              <a:rPr lang="nb-NO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full </a:t>
            </a:r>
            <a:r>
              <a:rPr lang="nb-NO" dirty="0" err="1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potential</a:t>
            </a:r>
            <a:endParaRPr lang="nb-NO"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0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30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0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What is flask?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0"/>
          <p:cNvSpPr txBox="1"/>
          <p:nvPr/>
        </p:nvSpPr>
        <p:spPr>
          <a:xfrm>
            <a:off x="577725" y="1234725"/>
            <a:ext cx="81711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is a micro web framework written in Python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What does micro web framework mean?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It covers only the essentials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Request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52725" y="2894275"/>
            <a:ext cx="4153250" cy="148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31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1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Why do we use flask?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31"/>
          <p:cNvSpPr txBox="1"/>
          <p:nvPr/>
        </p:nvSpPr>
        <p:spPr>
          <a:xfrm>
            <a:off x="577725" y="1234725"/>
            <a:ext cx="8171100" cy="3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want to give you knowledge you can use later in life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Python is far more user-friendly for a business student than e.g. C#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build sites for NHHS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have a limited amount of traffic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have limited complexity to deal with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=&gt; Flask covers our needs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is very user-friendly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There is a rich ecosystem around flask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People have built “packages” for everything flask is missing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=&gt; This makes flask fairly complete anyway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In other words: no point using a sledgehammer to crack a nut</a:t>
            </a: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23400" y="1234723"/>
            <a:ext cx="2069825" cy="292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2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32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2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Simple flask application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2"/>
          <p:cNvSpPr txBox="1"/>
          <p:nvPr/>
        </p:nvSpPr>
        <p:spPr>
          <a:xfrm>
            <a:off x="577725" y="1234725"/>
            <a:ext cx="8171100" cy="36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flask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Flask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request</a:t>
            </a:r>
            <a:endParaRPr sz="1050">
              <a:solidFill>
                <a:srgbClr val="9CDCFE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Flask application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" sz="1050">
                <a:solidFill>
                  <a:srgbClr val="4EC9B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Flask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__name__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home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home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'index.html'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__name__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== 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'__main__'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run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debug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4FC1FF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33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3"/>
          <p:cNvSpPr txBox="1"/>
          <p:nvPr/>
        </p:nvSpPr>
        <p:spPr>
          <a:xfrm>
            <a:off x="577725" y="302125"/>
            <a:ext cx="8001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How to run/start a flask app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3"/>
          <p:cNvSpPr txBox="1"/>
          <p:nvPr/>
        </p:nvSpPr>
        <p:spPr>
          <a:xfrm>
            <a:off x="577725" y="1234725"/>
            <a:ext cx="81711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Your terminal path has to be in the same place as app.py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That usually means you have to type “cd app” first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means “change directory to app”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Mac: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Python3 app.py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Windows: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Py app.py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388" y="2965282"/>
            <a:ext cx="9144001" cy="15852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34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9" name="Google Shape;23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4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 in 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4"/>
          <p:cNvSpPr txBox="1"/>
          <p:nvPr/>
        </p:nvSpPr>
        <p:spPr>
          <a:xfrm>
            <a:off x="577725" y="1234725"/>
            <a:ext cx="81711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 is a method for connecting a url (what you type into the browser) to a function in Python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Each page (url) then has its own function in Python that returns a template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4"/>
          <p:cNvSpPr txBox="1"/>
          <p:nvPr/>
        </p:nvSpPr>
        <p:spPr>
          <a:xfrm>
            <a:off x="5193325" y="2496825"/>
            <a:ext cx="3745200" cy="10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home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home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'index.html'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45" name="Google Shape;245;p3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43000" y="2522775"/>
            <a:ext cx="21717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4"/>
          <p:cNvSpPr/>
          <p:nvPr/>
        </p:nvSpPr>
        <p:spPr>
          <a:xfrm>
            <a:off x="3664450" y="2902450"/>
            <a:ext cx="1292700" cy="2484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35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35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35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 in 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35"/>
          <p:cNvSpPr txBox="1"/>
          <p:nvPr/>
        </p:nvSpPr>
        <p:spPr>
          <a:xfrm>
            <a:off x="577725" y="1234725"/>
            <a:ext cx="81711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can have variables in a route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saves you from writing endless routes for the same type of page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Think: every news article on vg.no has the same layout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Headline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Date and author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The article itself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5"/>
          <p:cNvSpPr/>
          <p:nvPr/>
        </p:nvSpPr>
        <p:spPr>
          <a:xfrm>
            <a:off x="3655900" y="3765250"/>
            <a:ext cx="1068600" cy="2874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63" y="3503688"/>
            <a:ext cx="3419475" cy="77152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5"/>
          <p:cNvSpPr txBox="1"/>
          <p:nvPr/>
        </p:nvSpPr>
        <p:spPr>
          <a:xfrm>
            <a:off x="4894225" y="3452300"/>
            <a:ext cx="4477800" cy="10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news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'/news/i/&lt;id&gt;'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news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id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'news.html'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id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id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62" name="Google Shape;262;p35"/>
          <p:cNvSpPr/>
          <p:nvPr/>
        </p:nvSpPr>
        <p:spPr>
          <a:xfrm rot="5823485">
            <a:off x="6395662" y="2893767"/>
            <a:ext cx="1369679" cy="1998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5"/>
          <p:cNvSpPr/>
          <p:nvPr/>
        </p:nvSpPr>
        <p:spPr>
          <a:xfrm rot="10659915">
            <a:off x="6325403" y="3927871"/>
            <a:ext cx="1369737" cy="19996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35"/>
          <p:cNvSpPr/>
          <p:nvPr/>
        </p:nvSpPr>
        <p:spPr>
          <a:xfrm rot="5673625">
            <a:off x="8164625" y="3365140"/>
            <a:ext cx="1369636" cy="19983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6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36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36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6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 in flask - request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36"/>
          <p:cNvSpPr txBox="1"/>
          <p:nvPr/>
        </p:nvSpPr>
        <p:spPr>
          <a:xfrm>
            <a:off x="577725" y="1234725"/>
            <a:ext cx="81711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In web development there are different methods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GET, POST, PUT, PATCH, DELETE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Often called CRUD in the REST API world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Different methods are used for different operations: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GET -&gt; May I have this information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POST -&gt; I am giving you this information, can you store it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36"/>
          <p:cNvSpPr txBox="1"/>
          <p:nvPr/>
        </p:nvSpPr>
        <p:spPr>
          <a:xfrm>
            <a:off x="4529200" y="2928125"/>
            <a:ext cx="4219800" cy="14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POST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'/news'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methods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=[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'POST'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news_create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= request.form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logger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info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"Received data: </a:t>
            </a: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'news_create.html'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78" name="Google Shape;278;p36"/>
          <p:cNvSpPr txBox="1"/>
          <p:nvPr/>
        </p:nvSpPr>
        <p:spPr>
          <a:xfrm>
            <a:off x="248200" y="3107075"/>
            <a:ext cx="4281000" cy="10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GET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'/news'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methods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=[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'GET'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news_list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'news_list.html'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7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37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37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File structure in a flask project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" name="Google Shape;289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7"/>
          <p:cNvSpPr txBox="1"/>
          <p:nvPr/>
        </p:nvSpPr>
        <p:spPr>
          <a:xfrm>
            <a:off x="577725" y="1234725"/>
            <a:ext cx="8171100" cy="3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Folder:app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Folder:static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style.css  -&gt; Styling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customScript.js  -&gt; Custom JavaScript code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Folder:images -&gt; images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Folder:templates -&gt; The individual pages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app.py -&gt; The main code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config.py -&gt; Configuration of the application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models.py -&gt; Database schemas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.gitignore: Files Git should ignore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Readme.md: Information about the application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Dockerfile: Docker instructions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.env -&gt; Environment variables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.venv -&gt; Virtual environment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1" name="Google Shape;291;p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47988" y="1045600"/>
            <a:ext cx="3152775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38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38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" name="Google Shape;29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8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8"/>
          <p:cNvSpPr txBox="1"/>
          <p:nvPr/>
        </p:nvSpPr>
        <p:spPr>
          <a:xfrm>
            <a:off x="577725" y="1234725"/>
            <a:ext cx="8171100" cy="26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uses something called server-side rendering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build the pages (html documents) on the server, then send them to the client (the browser)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means every page has its own .html document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also uses something called Jinja2 as its template engine.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opens up quite a few possibilities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As you may have noticed, every route returns almost the same line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'&lt;file&gt;.html'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is what creates the actual web page you see in the browser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9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39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39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1" name="Google Shape;3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9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Basic HTML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39"/>
          <p:cNvSpPr txBox="1"/>
          <p:nvPr/>
        </p:nvSpPr>
        <p:spPr>
          <a:xfrm>
            <a:off x="577725" y="1234725"/>
            <a:ext cx="8171100" cy="3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HTML: Hyper text markup language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Used to build web pages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Consists of two main sections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&lt;head&gt; - metadata, title, CSS links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&lt;body&gt; - everything the user actually sees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&lt;header&gt; and &lt;footer&gt; are layout elements inside &lt;body&gt;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Every element in an html document is wrapped in &lt;tags&gt;. For example: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&lt;div&gt;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&lt;a&gt;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&lt;li&gt;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&lt;src&gt;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&lt;img&gt;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And many many more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40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40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40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Basic HTML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6" name="Google Shape;326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8102" y="1110325"/>
            <a:ext cx="5702851" cy="334552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0"/>
          <p:cNvSpPr/>
          <p:nvPr/>
        </p:nvSpPr>
        <p:spPr>
          <a:xfrm>
            <a:off x="710625" y="1635300"/>
            <a:ext cx="8412300" cy="6165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40"/>
          <p:cNvSpPr/>
          <p:nvPr/>
        </p:nvSpPr>
        <p:spPr>
          <a:xfrm>
            <a:off x="710625" y="2183188"/>
            <a:ext cx="8412300" cy="10584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40"/>
          <p:cNvSpPr/>
          <p:nvPr/>
        </p:nvSpPr>
        <p:spPr>
          <a:xfrm>
            <a:off x="710625" y="3321900"/>
            <a:ext cx="8412300" cy="5565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0"/>
          <p:cNvSpPr txBox="1"/>
          <p:nvPr/>
        </p:nvSpPr>
        <p:spPr>
          <a:xfrm>
            <a:off x="6130225" y="1708975"/>
            <a:ext cx="24915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Header</a:t>
            </a:r>
            <a:endParaRPr sz="21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0"/>
          <p:cNvSpPr txBox="1"/>
          <p:nvPr/>
        </p:nvSpPr>
        <p:spPr>
          <a:xfrm>
            <a:off x="6231250" y="2515425"/>
            <a:ext cx="24915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Body</a:t>
            </a:r>
            <a:endParaRPr sz="21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0"/>
          <p:cNvSpPr txBox="1"/>
          <p:nvPr/>
        </p:nvSpPr>
        <p:spPr>
          <a:xfrm>
            <a:off x="6298050" y="3321925"/>
            <a:ext cx="24915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  <a:endParaRPr sz="21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1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4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41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Google Shape;34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41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Basic HTML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4" name="Google Shape;344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41"/>
          <p:cNvSpPr txBox="1"/>
          <p:nvPr/>
        </p:nvSpPr>
        <p:spPr>
          <a:xfrm>
            <a:off x="577725" y="1234725"/>
            <a:ext cx="81711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HTML on its own is fairly dull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Static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No styling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So smart people have invented even more languages you need to know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CSS: Cascading Style Sheets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JavaScript (JS)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makes the pages good-looking, dynamic and actually usable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2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42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42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3" name="Google Shape;35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42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Bootstrap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42"/>
          <p:cNvSpPr txBox="1"/>
          <p:nvPr/>
        </p:nvSpPr>
        <p:spPr>
          <a:xfrm>
            <a:off x="577725" y="1234725"/>
            <a:ext cx="8171100" cy="16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In it.gruppen we use Bootstrap as our styling library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 styling library is pre-written CSS code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gives us piles of ready-made styling code, which makes us more efficient and gives our pages more uniform styling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8" name="Google Shape;358;p4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088" y="2385950"/>
            <a:ext cx="2428875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4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93915" y="2210350"/>
            <a:ext cx="2383936" cy="233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2"/>
          <p:cNvSpPr/>
          <p:nvPr/>
        </p:nvSpPr>
        <p:spPr>
          <a:xfrm>
            <a:off x="3655900" y="3232850"/>
            <a:ext cx="1068600" cy="2874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4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43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Google Shape;36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43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1" name="Google Shape;371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43"/>
          <p:cNvSpPr txBox="1"/>
          <p:nvPr/>
        </p:nvSpPr>
        <p:spPr>
          <a:xfrm>
            <a:off x="577725" y="1234725"/>
            <a:ext cx="8171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Jinja lets us populate data from the back-end (python) into html.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3"/>
          <p:cNvSpPr txBox="1"/>
          <p:nvPr/>
        </p:nvSpPr>
        <p:spPr>
          <a:xfrm>
            <a:off x="151500" y="1717375"/>
            <a:ext cx="5025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dirty="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 dirty="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 dirty="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 dirty="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'/user/&lt;user&gt;'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 dirty="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dirty="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 dirty="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user_profile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 dirty="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50" dirty="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 dirty="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 dirty="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 dirty="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'user.html'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 dirty="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 dirty="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 dirty="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 dirty="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74" name="Google Shape;374;p4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024049" y="1680103"/>
            <a:ext cx="5537775" cy="290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4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44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2" name="Google Shape;38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44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5" name="Google Shape;385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4"/>
          <p:cNvSpPr txBox="1"/>
          <p:nvPr/>
        </p:nvSpPr>
        <p:spPr>
          <a:xfrm>
            <a:off x="151500" y="1110325"/>
            <a:ext cx="3084900" cy="12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'/user/&lt;user&gt;'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user_profile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'user.html'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87" name="Google Shape;387;p4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19875" y="1063650"/>
            <a:ext cx="6409651" cy="33635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8" name="Google Shape;388;p44"/>
          <p:cNvCxnSpPr/>
          <p:nvPr/>
        </p:nvCxnSpPr>
        <p:spPr>
          <a:xfrm>
            <a:off x="770550" y="2268875"/>
            <a:ext cx="7260300" cy="1198800"/>
          </a:xfrm>
          <a:prstGeom prst="curvedConnector3">
            <a:avLst>
              <a:gd name="adj1" fmla="val 24175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5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45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45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6" name="Google Shape;39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45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9" name="Google Shape;399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3738" y="1481449"/>
            <a:ext cx="8373300" cy="2180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1" name="Google Shape;401;p45"/>
          <p:cNvCxnSpPr/>
          <p:nvPr/>
        </p:nvCxnSpPr>
        <p:spPr>
          <a:xfrm>
            <a:off x="1695225" y="1720925"/>
            <a:ext cx="2294700" cy="1173000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6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46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46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9" name="Google Shape;409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46"/>
          <p:cNvSpPr txBox="1"/>
          <p:nvPr/>
        </p:nvSpPr>
        <p:spPr>
          <a:xfrm>
            <a:off x="3797588" y="2167650"/>
            <a:ext cx="16056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2" name="Google Shape;412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7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47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47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0" name="Google Shape;42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47"/>
          <p:cNvSpPr txBox="1"/>
          <p:nvPr/>
        </p:nvSpPr>
        <p:spPr>
          <a:xfrm>
            <a:off x="1678538" y="2167650"/>
            <a:ext cx="58437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Exercise - Practice-flask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3" name="Google Shape;423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2505</Words>
  <Application>Microsoft Office PowerPoint</Application>
  <PresentationFormat>On-screen Show (16:9)</PresentationFormat>
  <Paragraphs>371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Courier New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Kenan Viteskic</cp:lastModifiedBy>
  <cp:revision>1</cp:revision>
  <dcterms:modified xsi:type="dcterms:W3CDTF">2026-08-26T21:21:41Z</dcterms:modified>
</cp:coreProperties>
</file>